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3136266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— 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3972876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 · one screen facing the Deaf guest · the receptionist only talks and listens</a:t>
            </a:r>
            <a:endParaRPr lang="en-US" sz="787" dirty="0"/>
          </a:p>
        </p:txBody>
      </p:sp>
      <p:sp>
        <p:nvSpPr>
          <p:cNvPr id="6" name="Shape 4"/>
          <p:cNvSpPr/>
          <p:nvPr/>
        </p:nvSpPr>
        <p:spPr>
          <a:xfrm>
            <a:off x="9334267" y="219070"/>
            <a:ext cx="2552636" cy="22859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48564" y="279457"/>
            <a:ext cx="180882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Intent classification (highlighted)</a:t>
            </a:r>
            <a:endParaRPr lang="en-US" sz="787" dirty="0"/>
          </a:p>
        </p:txBody>
      </p:sp>
      <p:sp>
        <p:nvSpPr>
          <p:cNvPr id="8" name="Text 6"/>
          <p:cNvSpPr txBox="1"/>
          <p:nvPr/>
        </p:nvSpPr>
        <p:spPr>
          <a:xfrm>
            <a:off x="304792" y="1039342"/>
            <a:ext cx="3287870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receptionist speaks   →   the guest sees ASL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4792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792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304792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40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6705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14" name="Text 12"/>
          <p:cNvSpPr txBox="1"/>
          <p:nvPr/>
        </p:nvSpPr>
        <p:spPr>
          <a:xfrm>
            <a:off x="666733" y="1325847"/>
            <a:ext cx="49645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125" dirty="0"/>
          </a:p>
        </p:txBody>
      </p:sp>
      <p:sp>
        <p:nvSpPr>
          <p:cNvPr id="15" name="Text 13"/>
          <p:cNvSpPr txBox="1"/>
          <p:nvPr/>
        </p:nvSpPr>
        <p:spPr>
          <a:xfrm>
            <a:off x="438139" y="1685502"/>
            <a:ext cx="2023974" cy="32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receptionist holds Space and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8139" y="2413765"/>
            <a:ext cx="70417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862" dirty="0"/>
          </a:p>
        </p:txBody>
      </p:sp>
      <p:sp>
        <p:nvSpPr>
          <p:cNvPr id="17" name="Shape 15"/>
          <p:cNvSpPr/>
          <p:nvPr/>
        </p:nvSpPr>
        <p:spPr>
          <a:xfrm>
            <a:off x="2518347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694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694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694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6941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33607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23" name="Text 21"/>
          <p:cNvSpPr txBox="1"/>
          <p:nvPr/>
        </p:nvSpPr>
        <p:spPr>
          <a:xfrm>
            <a:off x="3013635" y="1325847"/>
            <a:ext cx="818436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1125" dirty="0"/>
          </a:p>
        </p:txBody>
      </p:sp>
      <p:sp>
        <p:nvSpPr>
          <p:cNvPr id="24" name="Text 22"/>
          <p:cNvSpPr txBox="1"/>
          <p:nvPr/>
        </p:nvSpPr>
        <p:spPr>
          <a:xfrm>
            <a:off x="2785040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speech becomes text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785040" y="2413765"/>
            <a:ext cx="94474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</a:t>
            </a:r>
            <a:endParaRPr lang="en-US" sz="862" dirty="0"/>
          </a:p>
        </p:txBody>
      </p:sp>
      <p:sp>
        <p:nvSpPr>
          <p:cNvPr id="26" name="Shape 24"/>
          <p:cNvSpPr/>
          <p:nvPr/>
        </p:nvSpPr>
        <p:spPr>
          <a:xfrm>
            <a:off x="4865248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98595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98595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E8590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98595" y="1437506"/>
            <a:ext cx="2194505" cy="12455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93843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80508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5360536" y="1325847"/>
            <a:ext cx="88424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5131942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receptionist mean?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31942" y="2413765"/>
            <a:ext cx="894354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</a:t>
            </a:r>
            <a:endParaRPr lang="en-US" sz="862" dirty="0"/>
          </a:p>
        </p:txBody>
      </p:sp>
      <p:sp>
        <p:nvSpPr>
          <p:cNvPr id="35" name="Shape 33"/>
          <p:cNvSpPr/>
          <p:nvPr/>
        </p:nvSpPr>
        <p:spPr>
          <a:xfrm>
            <a:off x="7212150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45496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5496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45496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40744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27409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41" name="Text 39"/>
          <p:cNvSpPr txBox="1"/>
          <p:nvPr/>
        </p:nvSpPr>
        <p:spPr>
          <a:xfrm>
            <a:off x="7707437" y="1325847"/>
            <a:ext cx="719330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125" dirty="0"/>
          </a:p>
        </p:txBody>
      </p:sp>
      <p:sp>
        <p:nvSpPr>
          <p:cNvPr id="42" name="Text 40"/>
          <p:cNvSpPr txBox="1"/>
          <p:nvPr/>
        </p:nvSpPr>
        <p:spPr>
          <a:xfrm>
            <a:off x="7478843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becomes ASL signs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478843" y="2413765"/>
            <a:ext cx="615682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gloss</a:t>
            </a:r>
            <a:endParaRPr lang="en-US" sz="862" dirty="0"/>
          </a:p>
        </p:txBody>
      </p:sp>
      <p:sp>
        <p:nvSpPr>
          <p:cNvPr id="44" name="Shape 42"/>
          <p:cNvSpPr/>
          <p:nvPr/>
        </p:nvSpPr>
        <p:spPr>
          <a:xfrm>
            <a:off x="9559051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92398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398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47" name="Shape 45"/>
          <p:cNvSpPr/>
          <p:nvPr/>
        </p:nvSpPr>
        <p:spPr>
          <a:xfrm>
            <a:off x="9692398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8" name="Shape 46"/>
          <p:cNvSpPr/>
          <p:nvPr/>
        </p:nvSpPr>
        <p:spPr>
          <a:xfrm>
            <a:off x="9787645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774311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50" name="Text 48"/>
          <p:cNvSpPr txBox="1"/>
          <p:nvPr/>
        </p:nvSpPr>
        <p:spPr>
          <a:xfrm>
            <a:off x="10054339" y="1325847"/>
            <a:ext cx="380585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125" dirty="0"/>
          </a:p>
        </p:txBody>
      </p:sp>
      <p:sp>
        <p:nvSpPr>
          <p:cNvPr id="51" name="Text 49"/>
          <p:cNvSpPr txBox="1"/>
          <p:nvPr/>
        </p:nvSpPr>
        <p:spPr>
          <a:xfrm>
            <a:off x="9825744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bellhop signs it, with captions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825744" y="2413765"/>
            <a:ext cx="57162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avatar</a:t>
            </a:r>
            <a:endParaRPr lang="en-US" sz="862" dirty="0"/>
          </a:p>
        </p:txBody>
      </p:sp>
      <p:sp>
        <p:nvSpPr>
          <p:cNvPr id="53" name="Text 51"/>
          <p:cNvSpPr txBox="1"/>
          <p:nvPr/>
        </p:nvSpPr>
        <p:spPr>
          <a:xfrm>
            <a:off x="304792" y="3210988"/>
            <a:ext cx="3464742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guest signs   →   the receptionist hears English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4792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4792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56" name="Shape 54"/>
          <p:cNvSpPr/>
          <p:nvPr/>
        </p:nvSpPr>
        <p:spPr>
          <a:xfrm>
            <a:off x="304792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57" name="Shape 55"/>
          <p:cNvSpPr/>
          <p:nvPr/>
        </p:nvSpPr>
        <p:spPr>
          <a:xfrm>
            <a:off x="400040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86705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59" name="Text 57"/>
          <p:cNvSpPr txBox="1"/>
          <p:nvPr/>
        </p:nvSpPr>
        <p:spPr>
          <a:xfrm>
            <a:off x="666733" y="3497493"/>
            <a:ext cx="380585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438139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guest signs to the webcam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438139" y="4585411"/>
            <a:ext cx="47662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862" dirty="0"/>
          </a:p>
        </p:txBody>
      </p:sp>
      <p:sp>
        <p:nvSpPr>
          <p:cNvPr id="62" name="Shape 60"/>
          <p:cNvSpPr/>
          <p:nvPr/>
        </p:nvSpPr>
        <p:spPr>
          <a:xfrm>
            <a:off x="2518347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51694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51694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51694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2746941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733607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68" name="Text 66"/>
          <p:cNvSpPr txBox="1"/>
          <p:nvPr/>
        </p:nvSpPr>
        <p:spPr>
          <a:xfrm>
            <a:off x="3013635" y="3497493"/>
            <a:ext cx="455169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125" dirty="0"/>
          </a:p>
        </p:txBody>
      </p:sp>
      <p:sp>
        <p:nvSpPr>
          <p:cNvPr id="69" name="Text 67"/>
          <p:cNvSpPr txBox="1"/>
          <p:nvPr/>
        </p:nvSpPr>
        <p:spPr>
          <a:xfrm>
            <a:off x="2785040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Hands, body and face are tracked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2785040" y="4585411"/>
            <a:ext cx="62207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862" dirty="0"/>
          </a:p>
        </p:txBody>
      </p:sp>
      <p:sp>
        <p:nvSpPr>
          <p:cNvPr id="71" name="Shape 69"/>
          <p:cNvSpPr/>
          <p:nvPr/>
        </p:nvSpPr>
        <p:spPr>
          <a:xfrm>
            <a:off x="4865248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998595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98595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74" name="Shape 72"/>
          <p:cNvSpPr/>
          <p:nvPr/>
        </p:nvSpPr>
        <p:spPr>
          <a:xfrm>
            <a:off x="4998595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75" name="Shape 73"/>
          <p:cNvSpPr/>
          <p:nvPr/>
        </p:nvSpPr>
        <p:spPr>
          <a:xfrm>
            <a:off x="5093843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080508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77" name="Text 75"/>
          <p:cNvSpPr txBox="1"/>
          <p:nvPr/>
        </p:nvSpPr>
        <p:spPr>
          <a:xfrm>
            <a:off x="5360536" y="3497493"/>
            <a:ext cx="801749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125" dirty="0"/>
          </a:p>
        </p:txBody>
      </p:sp>
      <p:sp>
        <p:nvSpPr>
          <p:cNvPr id="78" name="Text 76"/>
          <p:cNvSpPr txBox="1"/>
          <p:nvPr/>
        </p:nvSpPr>
        <p:spPr>
          <a:xfrm>
            <a:off x="5131942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sign is recognized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5131942" y="4585411"/>
            <a:ext cx="1052658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sign classifier</a:t>
            </a:r>
            <a:endParaRPr lang="en-US" sz="862" dirty="0"/>
          </a:p>
        </p:txBody>
      </p:sp>
      <p:sp>
        <p:nvSpPr>
          <p:cNvPr id="80" name="Shape 78"/>
          <p:cNvSpPr/>
          <p:nvPr/>
        </p:nvSpPr>
        <p:spPr>
          <a:xfrm>
            <a:off x="7212150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345496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45496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E8590C"/>
          </a:solidFill>
          <a:ln/>
        </p:spPr>
      </p:sp>
      <p:sp>
        <p:nvSpPr>
          <p:cNvPr id="83" name="Shape 81"/>
          <p:cNvSpPr/>
          <p:nvPr/>
        </p:nvSpPr>
        <p:spPr>
          <a:xfrm>
            <a:off x="7345496" y="3609152"/>
            <a:ext cx="2194505" cy="12455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4" name="Shape 82"/>
          <p:cNvSpPr/>
          <p:nvPr/>
        </p:nvSpPr>
        <p:spPr>
          <a:xfrm>
            <a:off x="7440744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427409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86" name="Text 84"/>
          <p:cNvSpPr txBox="1"/>
          <p:nvPr/>
        </p:nvSpPr>
        <p:spPr>
          <a:xfrm>
            <a:off x="7707437" y="3497493"/>
            <a:ext cx="88424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25" dirty="0"/>
          </a:p>
        </p:txBody>
      </p:sp>
      <p:sp>
        <p:nvSpPr>
          <p:cNvPr id="87" name="Text 85"/>
          <p:cNvSpPr txBox="1"/>
          <p:nvPr/>
        </p:nvSpPr>
        <p:spPr>
          <a:xfrm>
            <a:off x="7478843" y="3857148"/>
            <a:ext cx="2023974" cy="32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sentence does the guest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mean?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7478843" y="4585411"/>
            <a:ext cx="84351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</a:t>
            </a:r>
            <a:endParaRPr lang="en-US" sz="862" dirty="0"/>
          </a:p>
        </p:txBody>
      </p:sp>
      <p:sp>
        <p:nvSpPr>
          <p:cNvPr id="89" name="Shape 87"/>
          <p:cNvSpPr/>
          <p:nvPr/>
        </p:nvSpPr>
        <p:spPr>
          <a:xfrm>
            <a:off x="9559051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692398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92398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92" name="Shape 90"/>
          <p:cNvSpPr/>
          <p:nvPr/>
        </p:nvSpPr>
        <p:spPr>
          <a:xfrm>
            <a:off x="9692398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93" name="Shape 91"/>
          <p:cNvSpPr/>
          <p:nvPr/>
        </p:nvSpPr>
        <p:spPr>
          <a:xfrm>
            <a:off x="9787645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9774311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95" name="Text 93"/>
          <p:cNvSpPr txBox="1"/>
          <p:nvPr/>
        </p:nvSpPr>
        <p:spPr>
          <a:xfrm>
            <a:off x="10054339" y="3497493"/>
            <a:ext cx="49645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9825744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 said out loud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9825744" y="4585411"/>
            <a:ext cx="1014778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voice</a:t>
            </a:r>
            <a:endParaRPr lang="en-US" sz="862" dirty="0"/>
          </a:p>
        </p:txBody>
      </p:sp>
      <p:sp>
        <p:nvSpPr>
          <p:cNvPr id="98" name="Shape 96"/>
          <p:cNvSpPr/>
          <p:nvPr/>
        </p:nvSpPr>
        <p:spPr>
          <a:xfrm>
            <a:off x="304792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14337" y="5648565"/>
            <a:ext cx="47736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2850" dirty="0"/>
          </a:p>
        </p:txBody>
      </p:sp>
      <p:sp>
        <p:nvSpPr>
          <p:cNvPr id="100" name="Text 98"/>
          <p:cNvSpPr txBox="1"/>
          <p:nvPr/>
        </p:nvSpPr>
        <p:spPr>
          <a:xfrm>
            <a:off x="514337" y="6138709"/>
            <a:ext cx="2667276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the avatar can play, recorded by the team</a:t>
            </a:r>
            <a:endParaRPr lang="en-US" sz="937" dirty="0"/>
          </a:p>
        </p:txBody>
      </p:sp>
      <p:sp>
        <p:nvSpPr>
          <p:cNvPr id="101" name="Shape 99"/>
          <p:cNvSpPr/>
          <p:nvPr/>
        </p:nvSpPr>
        <p:spPr>
          <a:xfrm>
            <a:off x="4216295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425839" y="5648565"/>
            <a:ext cx="1000638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850" dirty="0"/>
          </a:p>
        </p:txBody>
      </p:sp>
      <p:sp>
        <p:nvSpPr>
          <p:cNvPr id="103" name="Text 101"/>
          <p:cNvSpPr txBox="1"/>
          <p:nvPr/>
        </p:nvSpPr>
        <p:spPr>
          <a:xfrm>
            <a:off x="4425839" y="6138709"/>
            <a:ext cx="2020234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takes recorded by 5 signers</a:t>
            </a:r>
            <a:endParaRPr lang="en-US" sz="937" dirty="0"/>
          </a:p>
        </p:txBody>
      </p:sp>
      <p:sp>
        <p:nvSpPr>
          <p:cNvPr id="104" name="Shape 102"/>
          <p:cNvSpPr/>
          <p:nvPr/>
        </p:nvSpPr>
        <p:spPr>
          <a:xfrm>
            <a:off x="8127797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337342" y="5648565"/>
            <a:ext cx="1227812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90 %</a:t>
            </a:r>
            <a:endParaRPr lang="en-US" sz="2850" dirty="0"/>
          </a:p>
        </p:txBody>
      </p:sp>
      <p:sp>
        <p:nvSpPr>
          <p:cNvPr id="106" name="Text 104"/>
          <p:cNvSpPr txBox="1"/>
          <p:nvPr/>
        </p:nvSpPr>
        <p:spPr>
          <a:xfrm>
            <a:off x="8337342" y="6138709"/>
            <a:ext cx="2715644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sentences understood for a signer never seen</a:t>
            </a:r>
            <a:endParaRPr lang="en-US" sz="9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382336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SignBridge — technical workflow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3972876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 · one screen facing the Deaf guest · the receptionist only talks and listens</a:t>
            </a:r>
            <a:endParaRPr lang="en-US" sz="787" dirty="0"/>
          </a:p>
        </p:txBody>
      </p:sp>
      <p:sp>
        <p:nvSpPr>
          <p:cNvPr id="6" name="Shape 4"/>
          <p:cNvSpPr/>
          <p:nvPr/>
        </p:nvSpPr>
        <p:spPr>
          <a:xfrm>
            <a:off x="9334267" y="219070"/>
            <a:ext cx="2552636" cy="22859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48564" y="279457"/>
            <a:ext cx="180882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Intent classification (highlighted)</a:t>
            </a:r>
            <a:endParaRPr lang="en-US" sz="787" dirty="0"/>
          </a:p>
        </p:txBody>
      </p:sp>
      <p:sp>
        <p:nvSpPr>
          <p:cNvPr id="8" name="Text 6"/>
          <p:cNvSpPr txBox="1"/>
          <p:nvPr/>
        </p:nvSpPr>
        <p:spPr>
          <a:xfrm>
            <a:off x="304792" y="680258"/>
            <a:ext cx="235629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→ GUEST   speech to ASL</a:t>
            </a:r>
            <a:endParaRPr lang="en-US" sz="862" dirty="0"/>
          </a:p>
        </p:txBody>
      </p:sp>
      <p:sp>
        <p:nvSpPr>
          <p:cNvPr id="9" name="Shape 7"/>
          <p:cNvSpPr/>
          <p:nvPr/>
        </p:nvSpPr>
        <p:spPr>
          <a:xfrm>
            <a:off x="304792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792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304792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0040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2" dirty="0"/>
          </a:p>
        </p:txBody>
      </p:sp>
      <p:sp>
        <p:nvSpPr>
          <p:cNvPr id="13" name="Text 11"/>
          <p:cNvSpPr txBox="1"/>
          <p:nvPr/>
        </p:nvSpPr>
        <p:spPr>
          <a:xfrm>
            <a:off x="507512" y="936665"/>
            <a:ext cx="659627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Push-to-talk</a:t>
            </a:r>
            <a:endParaRPr lang="en-US" sz="787" dirty="0"/>
          </a:p>
        </p:txBody>
      </p:sp>
      <p:sp>
        <p:nvSpPr>
          <p:cNvPr id="14" name="Text 12"/>
          <p:cNvSpPr txBox="1"/>
          <p:nvPr/>
        </p:nvSpPr>
        <p:spPr>
          <a:xfrm>
            <a:off x="400040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held = record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414327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763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 built-in mic, chosen automatically (AirPods /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avoided)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414327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763" y="155059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→ webm; room noise never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transcribed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518347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694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694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694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46941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2" dirty="0"/>
          </a:p>
        </p:txBody>
      </p:sp>
      <p:sp>
        <p:nvSpPr>
          <p:cNvPr id="24" name="Text 22"/>
          <p:cNvSpPr txBox="1"/>
          <p:nvPr/>
        </p:nvSpPr>
        <p:spPr>
          <a:xfrm>
            <a:off x="2854413" y="936665"/>
            <a:ext cx="76958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to text</a:t>
            </a:r>
            <a:endParaRPr lang="en-US" sz="787" dirty="0"/>
          </a:p>
        </p:txBody>
      </p:sp>
      <p:sp>
        <p:nvSpPr>
          <p:cNvPr id="25" name="Text 23"/>
          <p:cNvSpPr txBox="1"/>
          <p:nvPr/>
        </p:nvSpPr>
        <p:spPr>
          <a:xfrm>
            <a:off x="2746941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(whisper-1)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2761228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32664" y="1321961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/api/transcribe, key server-side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2761228" y="148110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32664" y="144818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Chrome Web Speech API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4865248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998595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98595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33" name="Shape 31"/>
          <p:cNvSpPr/>
          <p:nvPr/>
        </p:nvSpPr>
        <p:spPr>
          <a:xfrm>
            <a:off x="4998595" y="1009625"/>
            <a:ext cx="2194505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93843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2" dirty="0"/>
          </a:p>
        </p:txBody>
      </p:sp>
      <p:sp>
        <p:nvSpPr>
          <p:cNvPr id="35" name="Text 33"/>
          <p:cNvSpPr txBox="1"/>
          <p:nvPr/>
        </p:nvSpPr>
        <p:spPr>
          <a:xfrm>
            <a:off x="5201315" y="936665"/>
            <a:ext cx="108145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</a:t>
            </a:r>
            <a:endParaRPr lang="en-US" sz="787" dirty="0"/>
          </a:p>
        </p:txBody>
      </p:sp>
      <p:sp>
        <p:nvSpPr>
          <p:cNvPr id="36" name="Text 34"/>
          <p:cNvSpPr txBox="1"/>
          <p:nvPr/>
        </p:nvSpPr>
        <p:spPr>
          <a:xfrm>
            <a:off x="5093843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receptionist intents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5108130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79566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+ similarity to the reference sentence (see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below)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5108130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79566" y="155059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/api/gloss → { gloss, intents }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7212150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45496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5496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45496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40744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2" dirty="0"/>
          </a:p>
        </p:txBody>
      </p:sp>
      <p:sp>
        <p:nvSpPr>
          <p:cNvPr id="46" name="Text 44"/>
          <p:cNvSpPr txBox="1"/>
          <p:nvPr/>
        </p:nvSpPr>
        <p:spPr>
          <a:xfrm>
            <a:off x="7548216" y="936665"/>
            <a:ext cx="942913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ASL gloss</a:t>
            </a:r>
            <a:endParaRPr lang="en-US" sz="787" dirty="0"/>
          </a:p>
        </p:txBody>
      </p:sp>
      <p:sp>
        <p:nvSpPr>
          <p:cNvPr id="47" name="Text 45"/>
          <p:cNvSpPr txBox="1"/>
          <p:nvPr/>
        </p:nvSpPr>
        <p:spPr>
          <a:xfrm>
            <a:off x="7440744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curated ASL gloss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7455031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526467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word order, BROWS-UP / DOWN on questions,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7455031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26467" y="155059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word by word: 87 signs, synonyms, plurals,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fingerspelling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9559051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692398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92398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55" name="Shape 53"/>
          <p:cNvSpPr/>
          <p:nvPr/>
        </p:nvSpPr>
        <p:spPr>
          <a:xfrm>
            <a:off x="9692398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787645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2" dirty="0"/>
          </a:p>
        </p:txBody>
      </p:sp>
      <p:sp>
        <p:nvSpPr>
          <p:cNvPr id="57" name="Text 55"/>
          <p:cNvSpPr txBox="1"/>
          <p:nvPr/>
        </p:nvSpPr>
        <p:spPr>
          <a:xfrm>
            <a:off x="9895117" y="936665"/>
            <a:ext cx="925697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signing avatar</a:t>
            </a:r>
            <a:endParaRPr lang="en-US" sz="787" dirty="0"/>
          </a:p>
        </p:txBody>
      </p:sp>
      <p:sp>
        <p:nvSpPr>
          <p:cNvPr id="58" name="Text 56"/>
          <p:cNvSpPr txBox="1"/>
          <p:nvPr/>
        </p:nvSpPr>
        <p:spPr>
          <a:xfrm>
            <a:off x="9787645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· rigged bellhop (GLB)</a:t>
            </a:r>
            <a:endParaRPr lang="en-US" sz="675" dirty="0"/>
          </a:p>
        </p:txBody>
      </p:sp>
      <p:sp>
        <p:nvSpPr>
          <p:cNvPr id="59" name="Shape 57"/>
          <p:cNvSpPr/>
          <p:nvPr/>
        </p:nvSpPr>
        <p:spPr>
          <a:xfrm>
            <a:off x="9801932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873368" y="1321961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Tripo mesh, Mixamo skeleton, 3 phalanges per finger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9801932" y="148110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873368" y="144818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 the team's MediaPipe captures: arm IK, finger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aiming, 30 fps, captions</a:t>
            </a:r>
            <a:endParaRPr lang="en-US" sz="630" dirty="0"/>
          </a:p>
        </p:txBody>
      </p:sp>
      <p:sp>
        <p:nvSpPr>
          <p:cNvPr id="63" name="Text 61"/>
          <p:cNvSpPr txBox="1"/>
          <p:nvPr/>
        </p:nvSpPr>
        <p:spPr>
          <a:xfrm>
            <a:off x="304792" y="2204220"/>
            <a:ext cx="235629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→ RECEPTIONIST   ASL to speech</a:t>
            </a:r>
            <a:endParaRPr lang="en-US" sz="862" dirty="0"/>
          </a:p>
        </p:txBody>
      </p:sp>
      <p:sp>
        <p:nvSpPr>
          <p:cNvPr id="64" name="Shape 62"/>
          <p:cNvSpPr/>
          <p:nvPr/>
        </p:nvSpPr>
        <p:spPr>
          <a:xfrm>
            <a:off x="304792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4792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304792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00040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2" dirty="0"/>
          </a:p>
        </p:txBody>
      </p:sp>
      <p:sp>
        <p:nvSpPr>
          <p:cNvPr id="68" name="Text 66"/>
          <p:cNvSpPr txBox="1"/>
          <p:nvPr/>
        </p:nvSpPr>
        <p:spPr>
          <a:xfrm>
            <a:off x="507512" y="2460627"/>
            <a:ext cx="1093139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turn &amp; capture</a:t>
            </a:r>
            <a:endParaRPr lang="en-US" sz="787" dirty="0"/>
          </a:p>
        </p:txBody>
      </p:sp>
      <p:sp>
        <p:nvSpPr>
          <p:cNvPr id="69" name="Text 67"/>
          <p:cNvSpPr txBox="1"/>
          <p:nvPr/>
        </p:nvSpPr>
        <p:spPr>
          <a:xfrm>
            <a:off x="400040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recognition/live_key.py · OpenCV</a:t>
            </a:r>
            <a:endParaRPr lang="en-US" sz="675" dirty="0"/>
          </a:p>
        </p:txBody>
      </p:sp>
      <p:sp>
        <p:nvSpPr>
          <p:cNvPr id="70" name="Shape 68"/>
          <p:cNvSpPr/>
          <p:nvPr/>
        </p:nvSpPr>
        <p:spPr>
          <a:xfrm>
            <a:off x="414327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85763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when the avatar has finished signing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414327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85763" y="2972145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when the hands rest 2.5 s; live preview on the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2518347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651694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51694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77" name="Shape 75"/>
          <p:cNvSpPr/>
          <p:nvPr/>
        </p:nvSpPr>
        <p:spPr>
          <a:xfrm>
            <a:off x="2651694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746941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2" dirty="0"/>
          </a:p>
        </p:txBody>
      </p:sp>
      <p:sp>
        <p:nvSpPr>
          <p:cNvPr id="79" name="Text 77"/>
          <p:cNvSpPr txBox="1"/>
          <p:nvPr/>
        </p:nvSpPr>
        <p:spPr>
          <a:xfrm>
            <a:off x="2854413" y="2460627"/>
            <a:ext cx="613615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</a:t>
            </a:r>
            <a:endParaRPr lang="en-US" sz="787" dirty="0"/>
          </a:p>
        </p:txBody>
      </p:sp>
      <p:sp>
        <p:nvSpPr>
          <p:cNvPr id="80" name="Text 78"/>
          <p:cNvSpPr txBox="1"/>
          <p:nvPr/>
        </p:nvSpPr>
        <p:spPr>
          <a:xfrm>
            <a:off x="2746941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Holistic 1.1.0, on-device</a:t>
            </a:r>
            <a:endParaRPr lang="en-US" sz="675" dirty="0"/>
          </a:p>
        </p:txBody>
      </p:sp>
      <p:sp>
        <p:nvSpPr>
          <p:cNvPr id="81" name="Shape 79"/>
          <p:cNvSpPr/>
          <p:nvPr/>
        </p:nvSpPr>
        <p:spPr>
          <a:xfrm>
            <a:off x="2761228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832664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pose + 2 × 21 hand + 26 face points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2761228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2832664" y="2972145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shoulder-normalized, 30 fps; no video leaves the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630" dirty="0"/>
          </a:p>
        </p:txBody>
      </p:sp>
      <p:sp>
        <p:nvSpPr>
          <p:cNvPr id="85" name="Shape 83"/>
          <p:cNvSpPr/>
          <p:nvPr/>
        </p:nvSpPr>
        <p:spPr>
          <a:xfrm>
            <a:off x="4865248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998595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98595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88" name="Shape 86"/>
          <p:cNvSpPr/>
          <p:nvPr/>
        </p:nvSpPr>
        <p:spPr>
          <a:xfrm>
            <a:off x="4998595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5093843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2" dirty="0"/>
          </a:p>
        </p:txBody>
      </p:sp>
      <p:sp>
        <p:nvSpPr>
          <p:cNvPr id="90" name="Text 88"/>
          <p:cNvSpPr txBox="1"/>
          <p:nvPr/>
        </p:nvSpPr>
        <p:spPr>
          <a:xfrm>
            <a:off x="5201315" y="2460627"/>
            <a:ext cx="763942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classifier</a:t>
            </a:r>
            <a:endParaRPr lang="en-US" sz="787" dirty="0"/>
          </a:p>
        </p:txBody>
      </p:sp>
      <p:sp>
        <p:nvSpPr>
          <p:cNvPr id="91" name="Text 89"/>
          <p:cNvSpPr txBox="1"/>
          <p:nvPr/>
        </p:nvSpPr>
        <p:spPr>
          <a:xfrm>
            <a:off x="5093843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logistic regression, 22 classes</a:t>
            </a:r>
            <a:endParaRPr lang="en-US" sz="675" dirty="0"/>
          </a:p>
        </p:txBody>
      </p:sp>
      <p:sp>
        <p:nvSpPr>
          <p:cNvPr id="92" name="Shape 90"/>
          <p:cNvSpPr/>
          <p:nvPr/>
        </p:nvSpPr>
        <p:spPr>
          <a:xfrm>
            <a:off x="5108130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5179566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team's 1,320 takes (see below)</a:t>
            </a:r>
            <a:endParaRPr lang="en-US" sz="630" dirty="0"/>
          </a:p>
        </p:txBody>
      </p:sp>
      <p:sp>
        <p:nvSpPr>
          <p:cNvPr id="94" name="Shape 92"/>
          <p:cNvSpPr/>
          <p:nvPr/>
        </p:nvSpPr>
        <p:spPr>
          <a:xfrm>
            <a:off x="5108130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5179566" y="297214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sliding 1 s windows (step 0.13 s)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7212150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7345496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45496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99" name="Shape 97"/>
          <p:cNvSpPr/>
          <p:nvPr/>
        </p:nvSpPr>
        <p:spPr>
          <a:xfrm>
            <a:off x="7345496" y="2533587"/>
            <a:ext cx="2194505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7440744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2" dirty="0"/>
          </a:p>
        </p:txBody>
      </p:sp>
      <p:sp>
        <p:nvSpPr>
          <p:cNvPr id="101" name="Text 99"/>
          <p:cNvSpPr txBox="1"/>
          <p:nvPr/>
        </p:nvSpPr>
        <p:spPr>
          <a:xfrm>
            <a:off x="7548216" y="2460627"/>
            <a:ext cx="98323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</a:t>
            </a:r>
            <a:endParaRPr lang="en-US" sz="787" dirty="0"/>
          </a:p>
        </p:txBody>
      </p:sp>
      <p:sp>
        <p:nvSpPr>
          <p:cNvPr id="102" name="Text 100"/>
          <p:cNvSpPr txBox="1"/>
          <p:nvPr/>
        </p:nvSpPr>
        <p:spPr>
          <a:xfrm>
            <a:off x="7440744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guest sentences = guest intents</a:t>
            </a:r>
            <a:endParaRPr lang="en-US" sz="675" dirty="0"/>
          </a:p>
        </p:txBody>
      </p:sp>
      <p:sp>
        <p:nvSpPr>
          <p:cNvPr id="103" name="Shape 101"/>
          <p:cNvSpPr/>
          <p:nvPr/>
        </p:nvSpPr>
        <p:spPr>
          <a:xfrm>
            <a:off x="7455031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7526467" y="284592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each sentence on the window probabilities (see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below)</a:t>
            </a:r>
            <a:endParaRPr lang="en-US" sz="630" dirty="0"/>
          </a:p>
        </p:txBody>
      </p:sp>
      <p:sp>
        <p:nvSpPr>
          <p:cNvPr id="105" name="Shape 103"/>
          <p:cNvSpPr/>
          <p:nvPr/>
        </p:nvSpPr>
        <p:spPr>
          <a:xfrm>
            <a:off x="7455031" y="3107473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526467" y="307455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recognition/sentence.py</a:t>
            </a:r>
            <a:endParaRPr lang="en-US" sz="630" dirty="0"/>
          </a:p>
        </p:txBody>
      </p:sp>
      <p:sp>
        <p:nvSpPr>
          <p:cNvPr id="107" name="Shape 105"/>
          <p:cNvSpPr/>
          <p:nvPr/>
        </p:nvSpPr>
        <p:spPr>
          <a:xfrm>
            <a:off x="9559051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692398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92398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692398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9787645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2" dirty="0"/>
          </a:p>
        </p:txBody>
      </p:sp>
      <p:sp>
        <p:nvSpPr>
          <p:cNvPr id="112" name="Text 110"/>
          <p:cNvSpPr txBox="1"/>
          <p:nvPr/>
        </p:nvSpPr>
        <p:spPr>
          <a:xfrm>
            <a:off x="9895117" y="2460627"/>
            <a:ext cx="78694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speech</a:t>
            </a:r>
            <a:endParaRPr lang="en-US" sz="787" dirty="0"/>
          </a:p>
        </p:txBody>
      </p:sp>
      <p:sp>
        <p:nvSpPr>
          <p:cNvPr id="113" name="Text 111"/>
          <p:cNvSpPr txBox="1"/>
          <p:nvPr/>
        </p:nvSpPr>
        <p:spPr>
          <a:xfrm>
            <a:off x="9787645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(eleven_flash_v2_5)</a:t>
            </a:r>
            <a:endParaRPr lang="en-US" sz="675" dirty="0"/>
          </a:p>
        </p:txBody>
      </p:sp>
      <p:sp>
        <p:nvSpPr>
          <p:cNvPr id="114" name="Shape 112"/>
          <p:cNvSpPr/>
          <p:nvPr/>
        </p:nvSpPr>
        <p:spPr>
          <a:xfrm>
            <a:off x="9801932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873368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/api/tts; fallback: browser voice</a:t>
            </a:r>
            <a:endParaRPr lang="en-US" sz="630" dirty="0"/>
          </a:p>
        </p:txBody>
      </p:sp>
      <p:sp>
        <p:nvSpPr>
          <p:cNvPr id="116" name="Shape 114"/>
          <p:cNvSpPr/>
          <p:nvPr/>
        </p:nvSpPr>
        <p:spPr>
          <a:xfrm>
            <a:off x="9801932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873368" y="297214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on the laptop + “You said: …” on screen</a:t>
            </a:r>
            <a:endParaRPr lang="en-US" sz="630" dirty="0"/>
          </a:p>
        </p:txBody>
      </p:sp>
      <p:sp>
        <p:nvSpPr>
          <p:cNvPr id="118" name="Text 116"/>
          <p:cNvSpPr txBox="1"/>
          <p:nvPr/>
        </p:nvSpPr>
        <p:spPr>
          <a:xfrm>
            <a:off x="304792" y="3975826"/>
            <a:ext cx="2020556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CLASSIFIERS ARE BUILT</a:t>
            </a:r>
            <a:endParaRPr lang="en-US" sz="862" dirty="0"/>
          </a:p>
        </p:txBody>
      </p:sp>
      <p:sp>
        <p:nvSpPr>
          <p:cNvPr id="119" name="Shape 117"/>
          <p:cNvSpPr/>
          <p:nvPr/>
        </p:nvSpPr>
        <p:spPr>
          <a:xfrm>
            <a:off x="304792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4792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04792" y="4343291"/>
            <a:ext cx="3759106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400040" y="4270332"/>
            <a:ext cx="1573019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 — receptionist</a:t>
            </a:r>
            <a:endParaRPr lang="en-US" sz="787" dirty="0"/>
          </a:p>
        </p:txBody>
      </p:sp>
      <p:sp>
        <p:nvSpPr>
          <p:cNvPr id="123" name="Text 121"/>
          <p:cNvSpPr txBox="1"/>
          <p:nvPr/>
        </p:nvSpPr>
        <p:spPr>
          <a:xfrm>
            <a:off x="400040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· TypeScript · no training</a:t>
            </a:r>
            <a:endParaRPr lang="en-US" sz="712" dirty="0"/>
          </a:p>
        </p:txBody>
      </p:sp>
      <p:sp>
        <p:nvSpPr>
          <p:cNvPr id="124" name="Shape 122"/>
          <p:cNvSpPr/>
          <p:nvPr/>
        </p:nvSpPr>
        <p:spPr>
          <a:xfrm>
            <a:off x="414327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485763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intents, one per receptionist sentence of docs/vocabulary.md</a:t>
            </a:r>
            <a:endParaRPr lang="en-US" sz="637" dirty="0"/>
          </a:p>
        </p:txBody>
      </p:sp>
      <p:sp>
        <p:nvSpPr>
          <p:cNvPr id="126" name="Shape 124"/>
          <p:cNvSpPr/>
          <p:nvPr/>
        </p:nvSpPr>
        <p:spPr>
          <a:xfrm>
            <a:off x="414327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485763" y="4788288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patterns per intent (regex), incl. Whisper variants: keycard, wi-fi, booking…</a:t>
            </a:r>
            <a:endParaRPr lang="en-US" sz="637" dirty="0"/>
          </a:p>
        </p:txBody>
      </p:sp>
      <p:sp>
        <p:nvSpPr>
          <p:cNvPr id="128" name="Shape 126"/>
          <p:cNvSpPr/>
          <p:nvPr/>
        </p:nvSpPr>
        <p:spPr>
          <a:xfrm>
            <a:off x="414327" y="494920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485763" y="4915730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only if ≥ 1/3 of the sentence's content words belong to its reference sentence; ties → most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rule</a:t>
            </a:r>
            <a:endParaRPr lang="en-US" sz="637" dirty="0"/>
          </a:p>
        </p:txBody>
      </p:sp>
      <p:sp>
        <p:nvSpPr>
          <p:cNvPr id="130" name="Shape 128"/>
          <p:cNvSpPr/>
          <p:nvPr/>
        </p:nvSpPr>
        <p:spPr>
          <a:xfrm>
            <a:off x="414327" y="518028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485763" y="514680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 by regex: room number, times → ASL numbers</a:t>
            </a:r>
            <a:endParaRPr lang="en-US" sz="637" dirty="0"/>
          </a:p>
        </p:txBody>
      </p:sp>
      <p:sp>
        <p:nvSpPr>
          <p:cNvPr id="132" name="Shape 130"/>
          <p:cNvSpPr/>
          <p:nvPr/>
        </p:nvSpPr>
        <p:spPr>
          <a:xfrm>
            <a:off x="414327" y="530772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485763" y="5274242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unit-tested: 20 / 20 vocabulary sentences</a:t>
            </a:r>
            <a:endParaRPr lang="en-US" sz="637" dirty="0"/>
          </a:p>
        </p:txBody>
      </p:sp>
      <p:sp>
        <p:nvSpPr>
          <p:cNvPr id="134" name="Shape 132"/>
          <p:cNvSpPr/>
          <p:nvPr/>
        </p:nvSpPr>
        <p:spPr>
          <a:xfrm>
            <a:off x="4216295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216295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16295" y="4343291"/>
            <a:ext cx="3759106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4311542" y="4270332"/>
            <a:ext cx="763942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classifier</a:t>
            </a:r>
            <a:endParaRPr lang="en-US" sz="787" dirty="0"/>
          </a:p>
        </p:txBody>
      </p:sp>
      <p:sp>
        <p:nvSpPr>
          <p:cNvPr id="138" name="Text 136"/>
          <p:cNvSpPr txBox="1"/>
          <p:nvPr/>
        </p:nvSpPr>
        <p:spPr>
          <a:xfrm>
            <a:off x="4311542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· PyTorch · on our own data</a:t>
            </a:r>
            <a:endParaRPr lang="en-US" sz="712" dirty="0"/>
          </a:p>
        </p:txBody>
      </p:sp>
      <p:sp>
        <p:nvSpPr>
          <p:cNvPr id="139" name="Shape 137"/>
          <p:cNvSpPr/>
          <p:nvPr/>
        </p:nvSpPr>
        <p:spPr>
          <a:xfrm>
            <a:off x="4325829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4397265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1,320 takes = 5 signers × 22 classes × 12, MediaPipe (capture/train_session.py)</a:t>
            </a:r>
            <a:endParaRPr lang="en-US" sz="637" dirty="0"/>
          </a:p>
        </p:txBody>
      </p:sp>
      <p:sp>
        <p:nvSpPr>
          <p:cNvPr id="141" name="Shape 139"/>
          <p:cNvSpPr/>
          <p:nvPr/>
        </p:nvSpPr>
        <p:spPr>
          <a:xfrm>
            <a:off x="4325829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4397265" y="4788288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32 steps × 141 features → 7 stats each (mean, std, min, max, 3 thirds) = 987 values,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637" dirty="0"/>
          </a:p>
        </p:txBody>
      </p:sp>
      <p:sp>
        <p:nvSpPr>
          <p:cNvPr id="143" name="Shape 141"/>
          <p:cNvSpPr/>
          <p:nvPr/>
        </p:nvSpPr>
        <p:spPr>
          <a:xfrm>
            <a:off x="4325829" y="505283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4397265" y="5019359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multinomial logistic regression = 1 linear layer 987 → 22 (21,736 params), softmax +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</a:t>
            </a:r>
            <a:endParaRPr lang="en-US" sz="637" dirty="0"/>
          </a:p>
        </p:txBody>
      </p:sp>
      <p:sp>
        <p:nvSpPr>
          <p:cNvPr id="145" name="Shape 143"/>
          <p:cNvSpPr/>
          <p:nvPr/>
        </p:nvSpPr>
        <p:spPr>
          <a:xfrm>
            <a:off x="4325829" y="528390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4397265" y="525043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L-BFGS (300 it.), L2 λ = 0.001, temperature 1.53 fitted on a held-out signer</a:t>
            </a:r>
            <a:endParaRPr lang="en-US" sz="637" dirty="0"/>
          </a:p>
        </p:txBody>
      </p:sp>
      <p:sp>
        <p:nvSpPr>
          <p:cNvPr id="147" name="Shape 145"/>
          <p:cNvSpPr/>
          <p:nvPr/>
        </p:nvSpPr>
        <p:spPr>
          <a:xfrm>
            <a:off x="4325829" y="541135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4397265" y="5377871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a 2-layer BiGRU (AdamW, augmentation): 89.8 % vs 87.9 % (leave-one-signer-out)</a:t>
            </a:r>
            <a:endParaRPr lang="en-US" sz="637" dirty="0"/>
          </a:p>
        </p:txBody>
      </p:sp>
      <p:sp>
        <p:nvSpPr>
          <p:cNvPr id="149" name="Shape 147"/>
          <p:cNvSpPr/>
          <p:nvPr/>
        </p:nvSpPr>
        <p:spPr>
          <a:xfrm>
            <a:off x="8127797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127797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127797" y="4343291"/>
            <a:ext cx="3759106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8223044" y="4270332"/>
            <a:ext cx="121446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 — guest</a:t>
            </a:r>
            <a:endParaRPr lang="en-US" sz="787" dirty="0"/>
          </a:p>
        </p:txBody>
      </p:sp>
      <p:sp>
        <p:nvSpPr>
          <p:cNvPr id="153" name="Text 151"/>
          <p:cNvSpPr txBox="1"/>
          <p:nvPr/>
        </p:nvSpPr>
        <p:spPr>
          <a:xfrm>
            <a:off x="8223044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· Python / NumPy · no training</a:t>
            </a:r>
            <a:endParaRPr lang="en-US" sz="712" dirty="0"/>
          </a:p>
        </p:txBody>
      </p:sp>
      <p:sp>
        <p:nvSpPr>
          <p:cNvPr id="154" name="Shape 152"/>
          <p:cNvSpPr/>
          <p:nvPr/>
        </p:nvSpPr>
        <p:spPr>
          <a:xfrm>
            <a:off x="8237332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308767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classifier probabilities on sliding 1 s windows</a:t>
            </a:r>
            <a:endParaRPr lang="en-US" sz="637" dirty="0"/>
          </a:p>
        </p:txBody>
      </p:sp>
      <p:sp>
        <p:nvSpPr>
          <p:cNvPr id="156" name="Shape 154"/>
          <p:cNvSpPr/>
          <p:nvPr/>
        </p:nvSpPr>
        <p:spPr>
          <a:xfrm>
            <a:off x="8237332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8308767" y="4788288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22 guest sentences is aligned on the windows: its signs in order, each on a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run (monotonic dynamic programming)</a:t>
            </a:r>
            <a:endParaRPr lang="en-US" sz="637" dirty="0"/>
          </a:p>
        </p:txBody>
      </p:sp>
      <p:sp>
        <p:nvSpPr>
          <p:cNvPr id="158" name="Shape 156"/>
          <p:cNvSpPr/>
          <p:nvPr/>
        </p:nvSpPr>
        <p:spPr>
          <a:xfrm>
            <a:off x="8237332" y="505283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8308767" y="5019359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mean log-probability; the best sentence wins, so misread signs are fixed by the sentence</a:t>
            </a:r>
            <a:endParaRPr lang="en-US" sz="637" dirty="0"/>
          </a:p>
        </p:txBody>
      </p:sp>
      <p:sp>
        <p:nvSpPr>
          <p:cNvPr id="160" name="Shape 158"/>
          <p:cNvSpPr/>
          <p:nvPr/>
        </p:nvSpPr>
        <p:spPr>
          <a:xfrm>
            <a:off x="8237332" y="518028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308767" y="514680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length tuned on a held-out signer: 1 s → 90 %, 1.7 s → 84 %</a:t>
            </a:r>
            <a:endParaRPr lang="en-US" sz="637" dirty="0"/>
          </a:p>
        </p:txBody>
      </p:sp>
      <p:sp>
        <p:nvSpPr>
          <p:cNvPr id="162" name="Shape 160"/>
          <p:cNvSpPr/>
          <p:nvPr/>
        </p:nvSpPr>
        <p:spPr>
          <a:xfrm>
            <a:off x="304792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419090" y="6046319"/>
            <a:ext cx="1384970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Turn-taking  web/lib/turns.ts</a:t>
            </a:r>
            <a:endParaRPr lang="en-US" sz="750" dirty="0"/>
          </a:p>
        </p:txBody>
      </p:sp>
      <p:sp>
        <p:nvSpPr>
          <p:cNvPr id="164" name="Text 162"/>
          <p:cNvSpPr txBox="1"/>
          <p:nvPr/>
        </p:nvSpPr>
        <p:spPr>
          <a:xfrm>
            <a:off x="419090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 → GUEST → SPEAKING → FRONT DESK · mic muted during the guest turn ·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via POST /api/guest/signs → SSE</a:t>
            </a:r>
            <a:endParaRPr lang="en-US" sz="630" dirty="0"/>
          </a:p>
        </p:txBody>
      </p:sp>
      <p:sp>
        <p:nvSpPr>
          <p:cNvPr id="165" name="Shape 163"/>
          <p:cNvSpPr/>
          <p:nvPr/>
        </p:nvSpPr>
        <p:spPr>
          <a:xfrm>
            <a:off x="4216295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4330592" y="6046319"/>
            <a:ext cx="323003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750" dirty="0"/>
          </a:p>
        </p:txBody>
      </p:sp>
      <p:sp>
        <p:nvSpPr>
          <p:cNvPr id="167" name="Text 165"/>
          <p:cNvSpPr txBox="1"/>
          <p:nvPr/>
        </p:nvSpPr>
        <p:spPr>
          <a:xfrm>
            <a:off x="4330592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React 19 · Three.js · Python 3.12 · MediaPipe 1.1.0 · OpenCV · PyTorch · Whisper ·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630" dirty="0"/>
          </a:p>
        </p:txBody>
      </p:sp>
      <p:sp>
        <p:nvSpPr>
          <p:cNvPr id="168" name="Shape 166"/>
          <p:cNvSpPr/>
          <p:nvPr/>
        </p:nvSpPr>
        <p:spPr>
          <a:xfrm>
            <a:off x="8127797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8242094" y="6046319"/>
            <a:ext cx="416498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170" name="Text 168"/>
          <p:cNvSpPr txBox="1"/>
          <p:nvPr/>
        </p:nvSpPr>
        <p:spPr>
          <a:xfrm>
            <a:off x="8242094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89.8 % isolated signs, unseen signer (top-3 97.1 %) · ≈ 90 % continuous sentences (simulated) · 8 /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live, unguided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476131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why our own sign classifier?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4354383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open source where it is strong, and trained only the last layer on our hotel vocabulary</a:t>
            </a:r>
            <a:endParaRPr lang="en-US" sz="787" dirty="0"/>
          </a:p>
        </p:txBody>
      </p:sp>
      <p:sp>
        <p:nvSpPr>
          <p:cNvPr id="6" name="Text 4"/>
          <p:cNvSpPr txBox="1"/>
          <p:nvPr/>
        </p:nvSpPr>
        <p:spPr>
          <a:xfrm>
            <a:off x="304792" y="851704"/>
            <a:ext cx="121040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CHECKED</a:t>
            </a:r>
            <a:endParaRPr lang="en-US" sz="862" dirty="0"/>
          </a:p>
        </p:txBody>
      </p:sp>
      <p:sp>
        <p:nvSpPr>
          <p:cNvPr id="7" name="Shape 5"/>
          <p:cNvSpPr/>
          <p:nvPr/>
        </p:nvSpPr>
        <p:spPr>
          <a:xfrm>
            <a:off x="304792" y="1238219"/>
            <a:ext cx="5714857" cy="781030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189" y="1342610"/>
            <a:ext cx="16504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sign-language models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189" y="1527200"/>
            <a:ext cx="5645517" cy="2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isolated signs from their own vocabulary, or fingerspelling (Kaggle competitions); none translated hotel</a:t>
            </a:r>
            <a:endParaRPr lang="en-US" sz="787" dirty="0"/>
          </a:p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reliably when we started</a:t>
            </a:r>
            <a:endParaRPr lang="en-US" sz="787" dirty="0"/>
          </a:p>
        </p:txBody>
      </p:sp>
      <p:sp>
        <p:nvSpPr>
          <p:cNvPr id="10" name="Shape 8"/>
          <p:cNvSpPr/>
          <p:nvPr/>
        </p:nvSpPr>
        <p:spPr>
          <a:xfrm>
            <a:off x="304792" y="2171646"/>
            <a:ext cx="5714857" cy="781030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189" y="2276037"/>
            <a:ext cx="27007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ASL dataset (Kaggle GISLR, 250 signs)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189" y="2460627"/>
            <a:ext cx="5645517" cy="2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only 7 of our 21 signs: yes, no, please, thank you, where, time, room. Missing: reservation, elevator, towel,</a:t>
            </a:r>
            <a:endParaRPr lang="en-US" sz="787" dirty="0"/>
          </a:p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breakfast, checkout, password...</a:t>
            </a:r>
            <a:endParaRPr lang="en-US" sz="787" dirty="0"/>
          </a:p>
        </p:txBody>
      </p:sp>
      <p:sp>
        <p:nvSpPr>
          <p:cNvPr id="13" name="Shape 11"/>
          <p:cNvSpPr/>
          <p:nvPr/>
        </p:nvSpPr>
        <p:spPr>
          <a:xfrm>
            <a:off x="304792" y="3105072"/>
            <a:ext cx="5714857" cy="571486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189" y="3209464"/>
            <a:ext cx="7190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Citizen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189" y="3394054"/>
            <a:ext cx="5645517" cy="15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forbids redistribution; non-commercial research use only</a:t>
            </a:r>
            <a:endParaRPr lang="en-US" sz="787" dirty="0"/>
          </a:p>
        </p:txBody>
      </p:sp>
      <p:sp>
        <p:nvSpPr>
          <p:cNvPr id="16" name="Shape 14"/>
          <p:cNvSpPr/>
          <p:nvPr/>
        </p:nvSpPr>
        <p:spPr>
          <a:xfrm>
            <a:off x="304792" y="3828954"/>
            <a:ext cx="5714857" cy="571486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189" y="3933346"/>
            <a:ext cx="4812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WLASL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189" y="4117936"/>
            <a:ext cx="5645517" cy="15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scraped from third-party sites, many dead links, unclear license</a:t>
            </a:r>
            <a:endParaRPr lang="en-US" sz="787" dirty="0"/>
          </a:p>
        </p:txBody>
      </p:sp>
      <p:sp>
        <p:nvSpPr>
          <p:cNvPr id="19" name="Text 17"/>
          <p:cNvSpPr txBox="1"/>
          <p:nvPr/>
        </p:nvSpPr>
        <p:spPr>
          <a:xfrm>
            <a:off x="6400640" y="851704"/>
            <a:ext cx="151410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INSTEAD</a:t>
            </a:r>
            <a:endParaRPr lang="en-US" sz="862" dirty="0"/>
          </a:p>
        </p:txBody>
      </p:sp>
      <p:sp>
        <p:nvSpPr>
          <p:cNvPr id="20" name="Shape 18"/>
          <p:cNvSpPr/>
          <p:nvPr/>
        </p:nvSpPr>
        <p:spPr>
          <a:xfrm>
            <a:off x="6400640" y="1238219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0185" y="1470623"/>
            <a:ext cx="96760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21,736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8038899" y="1609304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 runs in milliseconds on the laptop CPU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640" y="2171646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10185" y="2404050"/>
            <a:ext cx="80232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250" dirty="0"/>
          </a:p>
        </p:txBody>
      </p:sp>
      <p:sp>
        <p:nvSpPr>
          <p:cNvPr id="25" name="Text 23"/>
          <p:cNvSpPr txBox="1"/>
          <p:nvPr/>
        </p:nvSpPr>
        <p:spPr>
          <a:xfrm>
            <a:off x="8038899" y="2542730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recorded by 5 team members (22 classes × 12)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640" y="3105072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10185" y="3337477"/>
            <a:ext cx="98167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90 %</a:t>
            </a:r>
            <a:endParaRPr lang="en-US" sz="2250" dirty="0"/>
          </a:p>
        </p:txBody>
      </p:sp>
      <p:sp>
        <p:nvSpPr>
          <p:cNvPr id="28" name="Text 26"/>
          <p:cNvSpPr txBox="1"/>
          <p:nvPr/>
        </p:nvSpPr>
        <p:spPr>
          <a:xfrm>
            <a:off x="8038899" y="3476157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 right for a signer never seen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640" y="4038499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10185" y="4270903"/>
            <a:ext cx="22394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31" name="Text 29"/>
          <p:cNvSpPr txBox="1"/>
          <p:nvPr/>
        </p:nvSpPr>
        <p:spPr>
          <a:xfrm>
            <a:off x="8038899" y="4409584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frames leave the laptop: only skeleton points, processed locally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4792" y="5333867"/>
            <a:ext cx="11582110" cy="1142971"/>
          </a:xfrm>
          <a:prstGeom prst="roundRect">
            <a:avLst>
              <a:gd name="adj" fmla="val 8333"/>
            </a:avLst>
          </a:prstGeom>
          <a:solidFill>
            <a:srgbClr val="FFF1E6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288" y="5486644"/>
            <a:ext cx="1504182" cy="185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we do use</a:t>
            </a:r>
            <a:endParaRPr lang="en-US" sz="975" dirty="0"/>
          </a:p>
        </p:txBody>
      </p:sp>
      <p:sp>
        <p:nvSpPr>
          <p:cNvPr id="34" name="Text 32"/>
          <p:cNvSpPr txBox="1"/>
          <p:nvPr/>
        </p:nvSpPr>
        <p:spPr>
          <a:xfrm>
            <a:off x="495288" y="5685902"/>
            <a:ext cx="1166821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(Google) for hand, body and face tracking · PyTorch for training · Three.js for the avatar · Next.js for the app · Whisper speech model (via the OpenAI API)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95288" y="6124041"/>
            <a:ext cx="6333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4052" y="6124041"/>
            <a:ext cx="1089543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open continuous ASL-to-English model is available, it can replace our classifier; tracking, sentence decoding, avatar and voice stay the same.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SignBridge - workflow</dc:title>
  <dc:subject>PptxGenJS Presentation</dc:subject>
  <dc:creator>SignBridge team</dc:creator>
  <cp:lastModifiedBy>SignBridge team</cp:lastModifiedBy>
  <cp:revision>1</cp:revision>
  <dcterms:created xsi:type="dcterms:W3CDTF">2026-10-11T17:35:14Z</dcterms:created>
  <dcterms:modified xsi:type="dcterms:W3CDTF">2026-10-11T17:35:14Z</dcterms:modified>
</cp:coreProperties>
</file>