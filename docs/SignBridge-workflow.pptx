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2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90535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04792" y="151634"/>
            <a:ext cx="3136266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SignBridge — how it works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04792" y="431853"/>
            <a:ext cx="3972876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dirty="0">
                <a:solidFill>
                  <a:srgbClr val="C9D6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laptop · one screen facing the Deaf guest · the receptionist only talks and listens</a:t>
            </a:r>
            <a:endParaRPr lang="en-US" sz="787" dirty="0"/>
          </a:p>
        </p:txBody>
      </p:sp>
      <p:sp>
        <p:nvSpPr>
          <p:cNvPr id="6" name="Shape 4"/>
          <p:cNvSpPr/>
          <p:nvPr/>
        </p:nvSpPr>
        <p:spPr>
          <a:xfrm>
            <a:off x="9334267" y="219070"/>
            <a:ext cx="2552636" cy="228594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48564" y="279457"/>
            <a:ext cx="1808820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Intent classification (highlighted)</a:t>
            </a:r>
            <a:endParaRPr lang="en-US" sz="787" dirty="0"/>
          </a:p>
        </p:txBody>
      </p:sp>
      <p:sp>
        <p:nvSpPr>
          <p:cNvPr id="8" name="Text 6"/>
          <p:cNvSpPr txBox="1"/>
          <p:nvPr/>
        </p:nvSpPr>
        <p:spPr>
          <a:xfrm>
            <a:off x="304792" y="1039342"/>
            <a:ext cx="3287870" cy="20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receptionist speaks   →   the guest sees ASL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04792" y="1238219"/>
            <a:ext cx="2194505" cy="1428714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4792" y="1238219"/>
            <a:ext cx="2194505" cy="323842"/>
          </a:xfrm>
          <a:prstGeom prst="roundRect">
            <a:avLst>
              <a:gd name="adj" fmla="val 29412"/>
            </a:avLst>
          </a:prstGeom>
          <a:solidFill>
            <a:srgbClr val="2F6FEB"/>
          </a:solidFill>
          <a:ln/>
        </p:spPr>
      </p:sp>
      <p:sp>
        <p:nvSpPr>
          <p:cNvPr id="11" name="Shape 9"/>
          <p:cNvSpPr/>
          <p:nvPr/>
        </p:nvSpPr>
        <p:spPr>
          <a:xfrm>
            <a:off x="304792" y="1437506"/>
            <a:ext cx="2194505" cy="124555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12" name="Shape 10"/>
          <p:cNvSpPr/>
          <p:nvPr/>
        </p:nvSpPr>
        <p:spPr>
          <a:xfrm>
            <a:off x="400040" y="1304892"/>
            <a:ext cx="190495" cy="1904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86705" y="1341848"/>
            <a:ext cx="217165" cy="15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25" dirty="0"/>
          </a:p>
        </p:txBody>
      </p:sp>
      <p:sp>
        <p:nvSpPr>
          <p:cNvPr id="14" name="Text 12"/>
          <p:cNvSpPr txBox="1"/>
          <p:nvPr/>
        </p:nvSpPr>
        <p:spPr>
          <a:xfrm>
            <a:off x="666733" y="1325847"/>
            <a:ext cx="496451" cy="214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</a:t>
            </a:r>
            <a:endParaRPr lang="en-US" sz="1125" dirty="0"/>
          </a:p>
        </p:txBody>
      </p:sp>
      <p:sp>
        <p:nvSpPr>
          <p:cNvPr id="15" name="Text 13"/>
          <p:cNvSpPr txBox="1"/>
          <p:nvPr/>
        </p:nvSpPr>
        <p:spPr>
          <a:xfrm>
            <a:off x="438139" y="1685502"/>
            <a:ext cx="2023974" cy="320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receptionist holds Space and</a:t>
            </a:r>
            <a:endParaRPr lang="en-US" sz="900" dirty="0"/>
          </a:p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38139" y="2413765"/>
            <a:ext cx="704179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Microphone</a:t>
            </a:r>
            <a:endParaRPr lang="en-US" sz="862" dirty="0"/>
          </a:p>
        </p:txBody>
      </p:sp>
      <p:sp>
        <p:nvSpPr>
          <p:cNvPr id="17" name="Shape 15"/>
          <p:cNvSpPr/>
          <p:nvPr/>
        </p:nvSpPr>
        <p:spPr>
          <a:xfrm>
            <a:off x="2518347" y="1952576"/>
            <a:ext cx="114297" cy="0"/>
          </a:xfrm>
          <a:prstGeom prst="line">
            <a:avLst/>
          </a:prstGeom>
          <a:noFill/>
          <a:ln w="19050">
            <a:solidFill>
              <a:srgbClr val="2F6FE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651694" y="1238219"/>
            <a:ext cx="2194505" cy="1428714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51694" y="1238219"/>
            <a:ext cx="2194505" cy="323842"/>
          </a:xfrm>
          <a:prstGeom prst="roundRect">
            <a:avLst>
              <a:gd name="adj" fmla="val 29412"/>
            </a:avLst>
          </a:prstGeom>
          <a:solidFill>
            <a:srgbClr val="2F6FE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51694" y="1437506"/>
            <a:ext cx="2194505" cy="124555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6941" y="1304892"/>
            <a:ext cx="190495" cy="1904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733607" y="1341848"/>
            <a:ext cx="217165" cy="15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25" dirty="0"/>
          </a:p>
        </p:txBody>
      </p:sp>
      <p:sp>
        <p:nvSpPr>
          <p:cNvPr id="23" name="Text 21"/>
          <p:cNvSpPr txBox="1"/>
          <p:nvPr/>
        </p:nvSpPr>
        <p:spPr>
          <a:xfrm>
            <a:off x="3013635" y="1325847"/>
            <a:ext cx="818436" cy="214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Transcribe</a:t>
            </a:r>
            <a:endParaRPr lang="en-US" sz="1125" dirty="0"/>
          </a:p>
        </p:txBody>
      </p:sp>
      <p:sp>
        <p:nvSpPr>
          <p:cNvPr id="24" name="Text 22"/>
          <p:cNvSpPr txBox="1"/>
          <p:nvPr/>
        </p:nvSpPr>
        <p:spPr>
          <a:xfrm>
            <a:off x="2785040" y="1685502"/>
            <a:ext cx="2023974" cy="1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speech becomes text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2785040" y="2413765"/>
            <a:ext cx="944749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Whisper</a:t>
            </a:r>
            <a:endParaRPr lang="en-US" sz="862" dirty="0"/>
          </a:p>
        </p:txBody>
      </p:sp>
      <p:sp>
        <p:nvSpPr>
          <p:cNvPr id="26" name="Shape 24"/>
          <p:cNvSpPr/>
          <p:nvPr/>
        </p:nvSpPr>
        <p:spPr>
          <a:xfrm>
            <a:off x="4865248" y="1952576"/>
            <a:ext cx="114297" cy="0"/>
          </a:xfrm>
          <a:prstGeom prst="line">
            <a:avLst/>
          </a:prstGeom>
          <a:noFill/>
          <a:ln w="19050">
            <a:solidFill>
              <a:srgbClr val="2F6FE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998595" y="1238219"/>
            <a:ext cx="2194505" cy="1428714"/>
          </a:xfrm>
          <a:prstGeom prst="roundRect">
            <a:avLst>
              <a:gd name="adj" fmla="val 6667"/>
            </a:avLst>
          </a:prstGeom>
          <a:solidFill>
            <a:srgbClr val="FFF1E6"/>
          </a:solidFill>
          <a:ln w="24764">
            <a:solidFill>
              <a:srgbClr val="E8590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98595" y="1238219"/>
            <a:ext cx="2194505" cy="323842"/>
          </a:xfrm>
          <a:prstGeom prst="roundRect">
            <a:avLst>
              <a:gd name="adj" fmla="val 29412"/>
            </a:avLst>
          </a:prstGeom>
          <a:solidFill>
            <a:srgbClr val="E8590C"/>
          </a:solidFill>
          <a:ln/>
        </p:spPr>
      </p:sp>
      <p:sp>
        <p:nvSpPr>
          <p:cNvPr id="29" name="Shape 27"/>
          <p:cNvSpPr/>
          <p:nvPr/>
        </p:nvSpPr>
        <p:spPr>
          <a:xfrm>
            <a:off x="4998595" y="1437506"/>
            <a:ext cx="2194505" cy="124555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30" name="Shape 28"/>
          <p:cNvSpPr/>
          <p:nvPr/>
        </p:nvSpPr>
        <p:spPr>
          <a:xfrm>
            <a:off x="5093843" y="1304892"/>
            <a:ext cx="190495" cy="1904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080508" y="1341848"/>
            <a:ext cx="217165" cy="15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25" dirty="0"/>
          </a:p>
        </p:txBody>
      </p:sp>
      <p:sp>
        <p:nvSpPr>
          <p:cNvPr id="32" name="Text 30"/>
          <p:cNvSpPr txBox="1"/>
          <p:nvPr/>
        </p:nvSpPr>
        <p:spPr>
          <a:xfrm>
            <a:off x="5360536" y="1325847"/>
            <a:ext cx="884241" cy="214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25" dirty="0"/>
          </a:p>
        </p:txBody>
      </p:sp>
      <p:sp>
        <p:nvSpPr>
          <p:cNvPr id="33" name="Text 31"/>
          <p:cNvSpPr txBox="1"/>
          <p:nvPr/>
        </p:nvSpPr>
        <p:spPr>
          <a:xfrm>
            <a:off x="5131942" y="1685502"/>
            <a:ext cx="2023974" cy="1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the receptionist mean?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131942" y="2413765"/>
            <a:ext cx="894354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classifier</a:t>
            </a:r>
            <a:endParaRPr lang="en-US" sz="862" dirty="0"/>
          </a:p>
        </p:txBody>
      </p:sp>
      <p:sp>
        <p:nvSpPr>
          <p:cNvPr id="35" name="Shape 33"/>
          <p:cNvSpPr/>
          <p:nvPr/>
        </p:nvSpPr>
        <p:spPr>
          <a:xfrm>
            <a:off x="7212150" y="1952576"/>
            <a:ext cx="114297" cy="0"/>
          </a:xfrm>
          <a:prstGeom prst="line">
            <a:avLst/>
          </a:prstGeom>
          <a:noFill/>
          <a:ln w="19050">
            <a:solidFill>
              <a:srgbClr val="2F6FE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345496" y="1238219"/>
            <a:ext cx="2194505" cy="1428714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45496" y="1238219"/>
            <a:ext cx="2194505" cy="323842"/>
          </a:xfrm>
          <a:prstGeom prst="roundRect">
            <a:avLst>
              <a:gd name="adj" fmla="val 29412"/>
            </a:avLst>
          </a:prstGeom>
          <a:solidFill>
            <a:srgbClr val="2F6FEB"/>
          </a:solidFill>
          <a:ln/>
        </p:spPr>
      </p:sp>
      <p:sp>
        <p:nvSpPr>
          <p:cNvPr id="38" name="Shape 36"/>
          <p:cNvSpPr/>
          <p:nvPr/>
        </p:nvSpPr>
        <p:spPr>
          <a:xfrm>
            <a:off x="7345496" y="1437506"/>
            <a:ext cx="2194505" cy="124555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39" name="Shape 37"/>
          <p:cNvSpPr/>
          <p:nvPr/>
        </p:nvSpPr>
        <p:spPr>
          <a:xfrm>
            <a:off x="7440744" y="1304892"/>
            <a:ext cx="190495" cy="1904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427409" y="1341848"/>
            <a:ext cx="217165" cy="15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25" dirty="0"/>
          </a:p>
        </p:txBody>
      </p:sp>
      <p:sp>
        <p:nvSpPr>
          <p:cNvPr id="41" name="Text 39"/>
          <p:cNvSpPr txBox="1"/>
          <p:nvPr/>
        </p:nvSpPr>
        <p:spPr>
          <a:xfrm>
            <a:off x="7707437" y="1325847"/>
            <a:ext cx="719330" cy="214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Translate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7478843" y="1685502"/>
            <a:ext cx="2023974" cy="1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text becomes ASL signs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7478843" y="2413765"/>
            <a:ext cx="615682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ASL gloss</a:t>
            </a:r>
            <a:endParaRPr lang="en-US" sz="862" dirty="0"/>
          </a:p>
        </p:txBody>
      </p:sp>
      <p:sp>
        <p:nvSpPr>
          <p:cNvPr id="44" name="Shape 42"/>
          <p:cNvSpPr/>
          <p:nvPr/>
        </p:nvSpPr>
        <p:spPr>
          <a:xfrm>
            <a:off x="9559051" y="1952576"/>
            <a:ext cx="114297" cy="0"/>
          </a:xfrm>
          <a:prstGeom prst="line">
            <a:avLst/>
          </a:prstGeom>
          <a:noFill/>
          <a:ln w="19050">
            <a:solidFill>
              <a:srgbClr val="2F6FEB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9692398" y="1238219"/>
            <a:ext cx="2194505" cy="1428714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692398" y="1238219"/>
            <a:ext cx="2194505" cy="323842"/>
          </a:xfrm>
          <a:prstGeom prst="roundRect">
            <a:avLst>
              <a:gd name="adj" fmla="val 29412"/>
            </a:avLst>
          </a:prstGeom>
          <a:solidFill>
            <a:srgbClr val="2F6FEB"/>
          </a:solidFill>
          <a:ln/>
        </p:spPr>
      </p:sp>
      <p:sp>
        <p:nvSpPr>
          <p:cNvPr id="47" name="Shape 45"/>
          <p:cNvSpPr/>
          <p:nvPr/>
        </p:nvSpPr>
        <p:spPr>
          <a:xfrm>
            <a:off x="9692398" y="1437506"/>
            <a:ext cx="2194505" cy="124555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48" name="Shape 46"/>
          <p:cNvSpPr/>
          <p:nvPr/>
        </p:nvSpPr>
        <p:spPr>
          <a:xfrm>
            <a:off x="9787645" y="1304892"/>
            <a:ext cx="190495" cy="1904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774311" y="1341848"/>
            <a:ext cx="217165" cy="15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25" dirty="0"/>
          </a:p>
        </p:txBody>
      </p:sp>
      <p:sp>
        <p:nvSpPr>
          <p:cNvPr id="50" name="Text 48"/>
          <p:cNvSpPr txBox="1"/>
          <p:nvPr/>
        </p:nvSpPr>
        <p:spPr>
          <a:xfrm>
            <a:off x="10054339" y="1325847"/>
            <a:ext cx="380585" cy="214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</a:t>
            </a:r>
            <a:endParaRPr lang="en-US" sz="1125" dirty="0"/>
          </a:p>
        </p:txBody>
      </p:sp>
      <p:sp>
        <p:nvSpPr>
          <p:cNvPr id="51" name="Text 49"/>
          <p:cNvSpPr txBox="1"/>
          <p:nvPr/>
        </p:nvSpPr>
        <p:spPr>
          <a:xfrm>
            <a:off x="9825744" y="1685502"/>
            <a:ext cx="2023974" cy="1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3D bellhop signs it, with captions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9825744" y="2413765"/>
            <a:ext cx="571629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avatar</a:t>
            </a:r>
            <a:endParaRPr lang="en-US" sz="862" dirty="0"/>
          </a:p>
        </p:txBody>
      </p:sp>
      <p:sp>
        <p:nvSpPr>
          <p:cNvPr id="53" name="Text 51"/>
          <p:cNvSpPr txBox="1"/>
          <p:nvPr/>
        </p:nvSpPr>
        <p:spPr>
          <a:xfrm>
            <a:off x="304792" y="3210988"/>
            <a:ext cx="3464742" cy="20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guest signs   →   the receptionist hears English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04792" y="3409865"/>
            <a:ext cx="2194505" cy="1428714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04792" y="3409865"/>
            <a:ext cx="2194505" cy="323842"/>
          </a:xfrm>
          <a:prstGeom prst="roundRect">
            <a:avLst>
              <a:gd name="adj" fmla="val 29412"/>
            </a:avLst>
          </a:prstGeom>
          <a:solidFill>
            <a:srgbClr val="1E9E5A"/>
          </a:solidFill>
          <a:ln/>
        </p:spPr>
      </p:sp>
      <p:sp>
        <p:nvSpPr>
          <p:cNvPr id="56" name="Shape 54"/>
          <p:cNvSpPr/>
          <p:nvPr/>
        </p:nvSpPr>
        <p:spPr>
          <a:xfrm>
            <a:off x="304792" y="3609152"/>
            <a:ext cx="2194505" cy="124555"/>
          </a:xfrm>
          <a:prstGeom prst="rect">
            <a:avLst/>
          </a:prstGeom>
          <a:solidFill>
            <a:srgbClr val="1E9E5A"/>
          </a:solidFill>
          <a:ln/>
        </p:spPr>
      </p:sp>
      <p:sp>
        <p:nvSpPr>
          <p:cNvPr id="57" name="Shape 55"/>
          <p:cNvSpPr/>
          <p:nvPr/>
        </p:nvSpPr>
        <p:spPr>
          <a:xfrm>
            <a:off x="400040" y="3476538"/>
            <a:ext cx="190495" cy="1904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386705" y="3513494"/>
            <a:ext cx="217165" cy="15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25" dirty="0"/>
          </a:p>
        </p:txBody>
      </p:sp>
      <p:sp>
        <p:nvSpPr>
          <p:cNvPr id="59" name="Text 57"/>
          <p:cNvSpPr txBox="1"/>
          <p:nvPr/>
        </p:nvSpPr>
        <p:spPr>
          <a:xfrm>
            <a:off x="666733" y="3497493"/>
            <a:ext cx="380585" cy="214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</a:t>
            </a:r>
            <a:endParaRPr lang="en-US" sz="1125" dirty="0"/>
          </a:p>
        </p:txBody>
      </p:sp>
      <p:sp>
        <p:nvSpPr>
          <p:cNvPr id="60" name="Text 58"/>
          <p:cNvSpPr txBox="1"/>
          <p:nvPr/>
        </p:nvSpPr>
        <p:spPr>
          <a:xfrm>
            <a:off x="438139" y="3857148"/>
            <a:ext cx="2023974" cy="1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guest signs to the webcam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438139" y="4585411"/>
            <a:ext cx="476625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862" dirty="0"/>
          </a:p>
        </p:txBody>
      </p:sp>
      <p:sp>
        <p:nvSpPr>
          <p:cNvPr id="62" name="Shape 60"/>
          <p:cNvSpPr/>
          <p:nvPr/>
        </p:nvSpPr>
        <p:spPr>
          <a:xfrm>
            <a:off x="2518347" y="4124222"/>
            <a:ext cx="114297" cy="0"/>
          </a:xfrm>
          <a:prstGeom prst="line">
            <a:avLst/>
          </a:prstGeom>
          <a:noFill/>
          <a:ln w="19050">
            <a:solidFill>
              <a:srgbClr val="1E9E5A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2651694" y="3409865"/>
            <a:ext cx="2194505" cy="1428714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651694" y="3409865"/>
            <a:ext cx="2194505" cy="323842"/>
          </a:xfrm>
          <a:prstGeom prst="roundRect">
            <a:avLst>
              <a:gd name="adj" fmla="val 29412"/>
            </a:avLst>
          </a:prstGeom>
          <a:solidFill>
            <a:srgbClr val="1E9E5A"/>
          </a:solidFill>
          <a:ln/>
        </p:spPr>
      </p:sp>
      <p:sp>
        <p:nvSpPr>
          <p:cNvPr id="65" name="Shape 63"/>
          <p:cNvSpPr/>
          <p:nvPr/>
        </p:nvSpPr>
        <p:spPr>
          <a:xfrm>
            <a:off x="2651694" y="3609152"/>
            <a:ext cx="2194505" cy="124555"/>
          </a:xfrm>
          <a:prstGeom prst="rect">
            <a:avLst/>
          </a:prstGeom>
          <a:solidFill>
            <a:srgbClr val="1E9E5A"/>
          </a:solidFill>
          <a:ln/>
        </p:spPr>
      </p:sp>
      <p:sp>
        <p:nvSpPr>
          <p:cNvPr id="66" name="Shape 64"/>
          <p:cNvSpPr/>
          <p:nvPr/>
        </p:nvSpPr>
        <p:spPr>
          <a:xfrm>
            <a:off x="2746941" y="3476538"/>
            <a:ext cx="190495" cy="1904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2733607" y="3513494"/>
            <a:ext cx="217165" cy="15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25" dirty="0"/>
          </a:p>
        </p:txBody>
      </p:sp>
      <p:sp>
        <p:nvSpPr>
          <p:cNvPr id="68" name="Text 66"/>
          <p:cNvSpPr txBox="1"/>
          <p:nvPr/>
        </p:nvSpPr>
        <p:spPr>
          <a:xfrm>
            <a:off x="3013635" y="3497493"/>
            <a:ext cx="455169" cy="214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</a:t>
            </a:r>
            <a:endParaRPr lang="en-US" sz="1125" dirty="0"/>
          </a:p>
        </p:txBody>
      </p:sp>
      <p:sp>
        <p:nvSpPr>
          <p:cNvPr id="69" name="Text 67"/>
          <p:cNvSpPr txBox="1"/>
          <p:nvPr/>
        </p:nvSpPr>
        <p:spPr>
          <a:xfrm>
            <a:off x="2785040" y="3857148"/>
            <a:ext cx="2023974" cy="1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Hands, body and face are tracked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2785040" y="4585411"/>
            <a:ext cx="622079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</a:t>
            </a:r>
            <a:endParaRPr lang="en-US" sz="862" dirty="0"/>
          </a:p>
        </p:txBody>
      </p:sp>
      <p:sp>
        <p:nvSpPr>
          <p:cNvPr id="71" name="Shape 69"/>
          <p:cNvSpPr/>
          <p:nvPr/>
        </p:nvSpPr>
        <p:spPr>
          <a:xfrm>
            <a:off x="4865248" y="4124222"/>
            <a:ext cx="114297" cy="0"/>
          </a:xfrm>
          <a:prstGeom prst="line">
            <a:avLst/>
          </a:prstGeom>
          <a:noFill/>
          <a:ln w="19050">
            <a:solidFill>
              <a:srgbClr val="1E9E5A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4998595" y="3409865"/>
            <a:ext cx="2194505" cy="1428714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998595" y="3409865"/>
            <a:ext cx="2194505" cy="323842"/>
          </a:xfrm>
          <a:prstGeom prst="roundRect">
            <a:avLst>
              <a:gd name="adj" fmla="val 29412"/>
            </a:avLst>
          </a:prstGeom>
          <a:solidFill>
            <a:srgbClr val="1E9E5A"/>
          </a:solidFill>
          <a:ln/>
        </p:spPr>
      </p:sp>
      <p:sp>
        <p:nvSpPr>
          <p:cNvPr id="74" name="Shape 72"/>
          <p:cNvSpPr/>
          <p:nvPr/>
        </p:nvSpPr>
        <p:spPr>
          <a:xfrm>
            <a:off x="4998595" y="3609152"/>
            <a:ext cx="2194505" cy="124555"/>
          </a:xfrm>
          <a:prstGeom prst="rect">
            <a:avLst/>
          </a:prstGeom>
          <a:solidFill>
            <a:srgbClr val="1E9E5A"/>
          </a:solidFill>
          <a:ln/>
        </p:spPr>
      </p:sp>
      <p:sp>
        <p:nvSpPr>
          <p:cNvPr id="75" name="Shape 73"/>
          <p:cNvSpPr/>
          <p:nvPr/>
        </p:nvSpPr>
        <p:spPr>
          <a:xfrm>
            <a:off x="5093843" y="3476538"/>
            <a:ext cx="190495" cy="1904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080508" y="3513494"/>
            <a:ext cx="217165" cy="15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5360536" y="3497493"/>
            <a:ext cx="801749" cy="214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Recognize</a:t>
            </a:r>
            <a:endParaRPr lang="en-US" sz="1125" dirty="0"/>
          </a:p>
        </p:txBody>
      </p:sp>
      <p:sp>
        <p:nvSpPr>
          <p:cNvPr id="78" name="Text 76"/>
          <p:cNvSpPr txBox="1"/>
          <p:nvPr/>
        </p:nvSpPr>
        <p:spPr>
          <a:xfrm>
            <a:off x="5131942" y="3857148"/>
            <a:ext cx="2023974" cy="1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sign is recognized</a:t>
            </a:r>
            <a:endParaRPr lang="en-US" sz="900" dirty="0"/>
          </a:p>
        </p:txBody>
      </p:sp>
      <p:sp>
        <p:nvSpPr>
          <p:cNvPr id="79" name="Text 77"/>
          <p:cNvSpPr txBox="1"/>
          <p:nvPr/>
        </p:nvSpPr>
        <p:spPr>
          <a:xfrm>
            <a:off x="5131942" y="4585411"/>
            <a:ext cx="1052658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sign classifier</a:t>
            </a:r>
            <a:endParaRPr lang="en-US" sz="862" dirty="0"/>
          </a:p>
        </p:txBody>
      </p:sp>
      <p:sp>
        <p:nvSpPr>
          <p:cNvPr id="80" name="Shape 78"/>
          <p:cNvSpPr/>
          <p:nvPr/>
        </p:nvSpPr>
        <p:spPr>
          <a:xfrm>
            <a:off x="7212150" y="4124222"/>
            <a:ext cx="114297" cy="0"/>
          </a:xfrm>
          <a:prstGeom prst="line">
            <a:avLst/>
          </a:prstGeom>
          <a:noFill/>
          <a:ln w="19050">
            <a:solidFill>
              <a:srgbClr val="1E9E5A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7345496" y="3409865"/>
            <a:ext cx="2194505" cy="1428714"/>
          </a:xfrm>
          <a:prstGeom prst="roundRect">
            <a:avLst>
              <a:gd name="adj" fmla="val 6667"/>
            </a:avLst>
          </a:prstGeom>
          <a:solidFill>
            <a:srgbClr val="FFF1E6"/>
          </a:solidFill>
          <a:ln w="24764">
            <a:solidFill>
              <a:srgbClr val="E8590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345496" y="3409865"/>
            <a:ext cx="2194505" cy="323842"/>
          </a:xfrm>
          <a:prstGeom prst="roundRect">
            <a:avLst>
              <a:gd name="adj" fmla="val 29412"/>
            </a:avLst>
          </a:prstGeom>
          <a:solidFill>
            <a:srgbClr val="E8590C"/>
          </a:solidFill>
          <a:ln/>
        </p:spPr>
      </p:sp>
      <p:sp>
        <p:nvSpPr>
          <p:cNvPr id="83" name="Shape 81"/>
          <p:cNvSpPr/>
          <p:nvPr/>
        </p:nvSpPr>
        <p:spPr>
          <a:xfrm>
            <a:off x="7345496" y="3609152"/>
            <a:ext cx="2194505" cy="124555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84" name="Shape 82"/>
          <p:cNvSpPr/>
          <p:nvPr/>
        </p:nvSpPr>
        <p:spPr>
          <a:xfrm>
            <a:off x="7440744" y="3476538"/>
            <a:ext cx="190495" cy="1904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7427409" y="3513494"/>
            <a:ext cx="217165" cy="15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25" dirty="0"/>
          </a:p>
        </p:txBody>
      </p:sp>
      <p:sp>
        <p:nvSpPr>
          <p:cNvPr id="86" name="Text 84"/>
          <p:cNvSpPr txBox="1"/>
          <p:nvPr/>
        </p:nvSpPr>
        <p:spPr>
          <a:xfrm>
            <a:off x="7707437" y="3497493"/>
            <a:ext cx="884241" cy="214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25" dirty="0"/>
          </a:p>
        </p:txBody>
      </p:sp>
      <p:sp>
        <p:nvSpPr>
          <p:cNvPr id="87" name="Text 85"/>
          <p:cNvSpPr txBox="1"/>
          <p:nvPr/>
        </p:nvSpPr>
        <p:spPr>
          <a:xfrm>
            <a:off x="7478843" y="3857148"/>
            <a:ext cx="2023974" cy="320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sentence does the guest</a:t>
            </a:r>
            <a:endParaRPr lang="en-US" sz="900" dirty="0"/>
          </a:p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mean?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478843" y="4585411"/>
            <a:ext cx="843515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decoder</a:t>
            </a:r>
            <a:endParaRPr lang="en-US" sz="862" dirty="0"/>
          </a:p>
        </p:txBody>
      </p:sp>
      <p:sp>
        <p:nvSpPr>
          <p:cNvPr id="89" name="Shape 87"/>
          <p:cNvSpPr/>
          <p:nvPr/>
        </p:nvSpPr>
        <p:spPr>
          <a:xfrm>
            <a:off x="9559051" y="4124222"/>
            <a:ext cx="114297" cy="0"/>
          </a:xfrm>
          <a:prstGeom prst="line">
            <a:avLst/>
          </a:prstGeom>
          <a:noFill/>
          <a:ln w="19050">
            <a:solidFill>
              <a:srgbClr val="1E9E5A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692398" y="3409865"/>
            <a:ext cx="2194505" cy="1428714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692398" y="3409865"/>
            <a:ext cx="2194505" cy="323842"/>
          </a:xfrm>
          <a:prstGeom prst="roundRect">
            <a:avLst>
              <a:gd name="adj" fmla="val 29412"/>
            </a:avLst>
          </a:prstGeom>
          <a:solidFill>
            <a:srgbClr val="1E9E5A"/>
          </a:solidFill>
          <a:ln/>
        </p:spPr>
      </p:sp>
      <p:sp>
        <p:nvSpPr>
          <p:cNvPr id="92" name="Shape 90"/>
          <p:cNvSpPr/>
          <p:nvPr/>
        </p:nvSpPr>
        <p:spPr>
          <a:xfrm>
            <a:off x="9692398" y="3609152"/>
            <a:ext cx="2194505" cy="124555"/>
          </a:xfrm>
          <a:prstGeom prst="rect">
            <a:avLst/>
          </a:prstGeom>
          <a:solidFill>
            <a:srgbClr val="1E9E5A"/>
          </a:solidFill>
          <a:ln/>
        </p:spPr>
      </p:sp>
      <p:sp>
        <p:nvSpPr>
          <p:cNvPr id="93" name="Shape 91"/>
          <p:cNvSpPr/>
          <p:nvPr/>
        </p:nvSpPr>
        <p:spPr>
          <a:xfrm>
            <a:off x="9787645" y="3476538"/>
            <a:ext cx="190495" cy="1904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774311" y="3513494"/>
            <a:ext cx="217165" cy="15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25" dirty="0"/>
          </a:p>
        </p:txBody>
      </p:sp>
      <p:sp>
        <p:nvSpPr>
          <p:cNvPr id="95" name="Text 93"/>
          <p:cNvSpPr txBox="1"/>
          <p:nvPr/>
        </p:nvSpPr>
        <p:spPr>
          <a:xfrm>
            <a:off x="10054339" y="3497493"/>
            <a:ext cx="496451" cy="2143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</a:t>
            </a:r>
            <a:endParaRPr lang="en-US" sz="1125" dirty="0"/>
          </a:p>
        </p:txBody>
      </p:sp>
      <p:sp>
        <p:nvSpPr>
          <p:cNvPr id="96" name="Text 94"/>
          <p:cNvSpPr txBox="1"/>
          <p:nvPr/>
        </p:nvSpPr>
        <p:spPr>
          <a:xfrm>
            <a:off x="9825744" y="3857148"/>
            <a:ext cx="2023974" cy="1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answer is said out loud</a:t>
            </a:r>
            <a:endParaRPr lang="en-US" sz="900" dirty="0"/>
          </a:p>
        </p:txBody>
      </p:sp>
      <p:sp>
        <p:nvSpPr>
          <p:cNvPr id="97" name="Text 95"/>
          <p:cNvSpPr txBox="1"/>
          <p:nvPr/>
        </p:nvSpPr>
        <p:spPr>
          <a:xfrm>
            <a:off x="9825744" y="4585411"/>
            <a:ext cx="1014778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ElevenLabs voice</a:t>
            </a:r>
            <a:endParaRPr lang="en-US" sz="862" dirty="0"/>
          </a:p>
        </p:txBody>
      </p:sp>
      <p:sp>
        <p:nvSpPr>
          <p:cNvPr id="98" name="Shape 96"/>
          <p:cNvSpPr/>
          <p:nvPr/>
        </p:nvSpPr>
        <p:spPr>
          <a:xfrm>
            <a:off x="304792" y="5410065"/>
            <a:ext cx="3759106" cy="1066773"/>
          </a:xfrm>
          <a:prstGeom prst="roundRect">
            <a:avLst>
              <a:gd name="adj" fmla="val 8929"/>
            </a:avLst>
          </a:prstGeom>
          <a:solidFill>
            <a:srgbClr val="F5F7FA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514337" y="5648565"/>
            <a:ext cx="477365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2850" dirty="0"/>
          </a:p>
        </p:txBody>
      </p:sp>
      <p:sp>
        <p:nvSpPr>
          <p:cNvPr id="100" name="Text 98"/>
          <p:cNvSpPr txBox="1"/>
          <p:nvPr/>
        </p:nvSpPr>
        <p:spPr>
          <a:xfrm>
            <a:off x="514337" y="6138709"/>
            <a:ext cx="2667276" cy="178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7" dirty="0">
                <a:solidFill>
                  <a:srgbClr val="5B6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signs the avatar can play, recorded by the team</a:t>
            </a:r>
            <a:endParaRPr lang="en-US" sz="937" dirty="0"/>
          </a:p>
        </p:txBody>
      </p:sp>
      <p:sp>
        <p:nvSpPr>
          <p:cNvPr id="101" name="Shape 99"/>
          <p:cNvSpPr/>
          <p:nvPr/>
        </p:nvSpPr>
        <p:spPr>
          <a:xfrm>
            <a:off x="4216295" y="5410065"/>
            <a:ext cx="3759106" cy="1066773"/>
          </a:xfrm>
          <a:prstGeom prst="roundRect">
            <a:avLst>
              <a:gd name="adj" fmla="val 8929"/>
            </a:avLst>
          </a:prstGeom>
          <a:solidFill>
            <a:srgbClr val="F5F7FA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4425839" y="5648565"/>
            <a:ext cx="1000638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1,320</a:t>
            </a:r>
            <a:endParaRPr lang="en-US" sz="2850" dirty="0"/>
          </a:p>
        </p:txBody>
      </p:sp>
      <p:sp>
        <p:nvSpPr>
          <p:cNvPr id="103" name="Text 101"/>
          <p:cNvSpPr txBox="1"/>
          <p:nvPr/>
        </p:nvSpPr>
        <p:spPr>
          <a:xfrm>
            <a:off x="4425839" y="6138709"/>
            <a:ext cx="2020234" cy="178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7" dirty="0">
                <a:solidFill>
                  <a:srgbClr val="5B6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takes recorded by 5 signers</a:t>
            </a:r>
            <a:endParaRPr lang="en-US" sz="937" dirty="0"/>
          </a:p>
        </p:txBody>
      </p:sp>
      <p:sp>
        <p:nvSpPr>
          <p:cNvPr id="104" name="Shape 102"/>
          <p:cNvSpPr/>
          <p:nvPr/>
        </p:nvSpPr>
        <p:spPr>
          <a:xfrm>
            <a:off x="8127797" y="5410065"/>
            <a:ext cx="3759106" cy="1066773"/>
          </a:xfrm>
          <a:prstGeom prst="roundRect">
            <a:avLst>
              <a:gd name="adj" fmla="val 8929"/>
            </a:avLst>
          </a:prstGeom>
          <a:solidFill>
            <a:srgbClr val="F5F7FA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337342" y="5648565"/>
            <a:ext cx="1227812" cy="542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90 %</a:t>
            </a:r>
            <a:endParaRPr lang="en-US" sz="2850" dirty="0"/>
          </a:p>
        </p:txBody>
      </p:sp>
      <p:sp>
        <p:nvSpPr>
          <p:cNvPr id="106" name="Text 104"/>
          <p:cNvSpPr txBox="1"/>
          <p:nvPr/>
        </p:nvSpPr>
        <p:spPr>
          <a:xfrm>
            <a:off x="8337342" y="6138709"/>
            <a:ext cx="2715644" cy="1785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7" dirty="0">
                <a:solidFill>
                  <a:srgbClr val="5B6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sentences understood for a signer never seen</a:t>
            </a:r>
            <a:endParaRPr lang="en-US" sz="937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2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590535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04792" y="151634"/>
            <a:ext cx="3823361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SignBridge — technical workflow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04792" y="431853"/>
            <a:ext cx="3972876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dirty="0">
                <a:solidFill>
                  <a:srgbClr val="C9D6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laptop · one screen facing the Deaf guest · the receptionist only talks and listens</a:t>
            </a:r>
            <a:endParaRPr lang="en-US" sz="787" dirty="0"/>
          </a:p>
        </p:txBody>
      </p:sp>
      <p:sp>
        <p:nvSpPr>
          <p:cNvPr id="6" name="Shape 4"/>
          <p:cNvSpPr/>
          <p:nvPr/>
        </p:nvSpPr>
        <p:spPr>
          <a:xfrm>
            <a:off x="9334267" y="219070"/>
            <a:ext cx="2552636" cy="228594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48564" y="279457"/>
            <a:ext cx="1808820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Intent classification (highlighted)</a:t>
            </a:r>
            <a:endParaRPr lang="en-US" sz="787" dirty="0"/>
          </a:p>
        </p:txBody>
      </p:sp>
      <p:sp>
        <p:nvSpPr>
          <p:cNvPr id="8" name="Text 6"/>
          <p:cNvSpPr txBox="1"/>
          <p:nvPr/>
        </p:nvSpPr>
        <p:spPr>
          <a:xfrm>
            <a:off x="304792" y="680258"/>
            <a:ext cx="2356297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RECEPTIONIST → GUEST   speech to ASL</a:t>
            </a:r>
            <a:endParaRPr lang="en-US" sz="862" dirty="0"/>
          </a:p>
        </p:txBody>
      </p:sp>
      <p:sp>
        <p:nvSpPr>
          <p:cNvPr id="9" name="Shape 7"/>
          <p:cNvSpPr/>
          <p:nvPr/>
        </p:nvSpPr>
        <p:spPr>
          <a:xfrm>
            <a:off x="304792" y="857229"/>
            <a:ext cx="2194505" cy="118107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4792" y="857229"/>
            <a:ext cx="2194505" cy="247644"/>
          </a:xfrm>
          <a:prstGeom prst="roundRect">
            <a:avLst>
              <a:gd name="adj" fmla="val 30769"/>
            </a:avLst>
          </a:prstGeom>
          <a:solidFill>
            <a:srgbClr val="2F6FEB"/>
          </a:solidFill>
          <a:ln/>
        </p:spPr>
      </p:sp>
      <p:sp>
        <p:nvSpPr>
          <p:cNvPr id="11" name="Shape 9"/>
          <p:cNvSpPr/>
          <p:nvPr/>
        </p:nvSpPr>
        <p:spPr>
          <a:xfrm>
            <a:off x="304792" y="1009625"/>
            <a:ext cx="2194505" cy="95248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00040" y="945428"/>
            <a:ext cx="111009" cy="13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7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12" dirty="0"/>
          </a:p>
        </p:txBody>
      </p:sp>
      <p:sp>
        <p:nvSpPr>
          <p:cNvPr id="13" name="Text 11"/>
          <p:cNvSpPr txBox="1"/>
          <p:nvPr/>
        </p:nvSpPr>
        <p:spPr>
          <a:xfrm>
            <a:off x="507512" y="936665"/>
            <a:ext cx="659627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Push-to-talk</a:t>
            </a:r>
            <a:endParaRPr lang="en-US" sz="787" dirty="0"/>
          </a:p>
        </p:txBody>
      </p:sp>
      <p:sp>
        <p:nvSpPr>
          <p:cNvPr id="14" name="Text 12"/>
          <p:cNvSpPr txBox="1"/>
          <p:nvPr/>
        </p:nvSpPr>
        <p:spPr>
          <a:xfrm>
            <a:off x="400040" y="1178404"/>
            <a:ext cx="2103220" cy="13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75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held = record</a:t>
            </a:r>
            <a:endParaRPr lang="en-US" sz="675" dirty="0"/>
          </a:p>
        </p:txBody>
      </p:sp>
      <p:sp>
        <p:nvSpPr>
          <p:cNvPr id="15" name="Shape 13"/>
          <p:cNvSpPr/>
          <p:nvPr/>
        </p:nvSpPr>
        <p:spPr>
          <a:xfrm>
            <a:off x="414327" y="1354878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5763" y="1321961"/>
            <a:ext cx="2014068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MacBook built-in mic, chosen automatically (AirPods /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iPhone avoided)</a:t>
            </a:r>
            <a:endParaRPr lang="en-US" sz="630" dirty="0"/>
          </a:p>
        </p:txBody>
      </p:sp>
      <p:sp>
        <p:nvSpPr>
          <p:cNvPr id="17" name="Shape 15"/>
          <p:cNvSpPr/>
          <p:nvPr/>
        </p:nvSpPr>
        <p:spPr>
          <a:xfrm>
            <a:off x="414327" y="1583511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763" y="1550593"/>
            <a:ext cx="2014068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MediaRecorder → webm; room noise never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transcribed</a:t>
            </a:r>
            <a:endParaRPr lang="en-US" sz="630" dirty="0"/>
          </a:p>
        </p:txBody>
      </p:sp>
      <p:sp>
        <p:nvSpPr>
          <p:cNvPr id="19" name="Shape 17"/>
          <p:cNvSpPr/>
          <p:nvPr/>
        </p:nvSpPr>
        <p:spPr>
          <a:xfrm>
            <a:off x="2518347" y="1447764"/>
            <a:ext cx="114297" cy="0"/>
          </a:xfrm>
          <a:prstGeom prst="line">
            <a:avLst/>
          </a:prstGeom>
          <a:noFill/>
          <a:ln w="15240">
            <a:solidFill>
              <a:srgbClr val="2F6FE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651694" y="857229"/>
            <a:ext cx="2194505" cy="118107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694" y="857229"/>
            <a:ext cx="2194505" cy="247644"/>
          </a:xfrm>
          <a:prstGeom prst="roundRect">
            <a:avLst>
              <a:gd name="adj" fmla="val 30769"/>
            </a:avLst>
          </a:prstGeom>
          <a:solidFill>
            <a:srgbClr val="2F6FEB"/>
          </a:solidFill>
          <a:ln/>
        </p:spPr>
      </p:sp>
      <p:sp>
        <p:nvSpPr>
          <p:cNvPr id="22" name="Shape 20"/>
          <p:cNvSpPr/>
          <p:nvPr/>
        </p:nvSpPr>
        <p:spPr>
          <a:xfrm>
            <a:off x="2651694" y="1009625"/>
            <a:ext cx="2194505" cy="95248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746941" y="945428"/>
            <a:ext cx="111009" cy="13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7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12" dirty="0"/>
          </a:p>
        </p:txBody>
      </p:sp>
      <p:sp>
        <p:nvSpPr>
          <p:cNvPr id="24" name="Text 22"/>
          <p:cNvSpPr txBox="1"/>
          <p:nvPr/>
        </p:nvSpPr>
        <p:spPr>
          <a:xfrm>
            <a:off x="2854413" y="936665"/>
            <a:ext cx="769580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Speech to text</a:t>
            </a:r>
            <a:endParaRPr lang="en-US" sz="787" dirty="0"/>
          </a:p>
        </p:txBody>
      </p:sp>
      <p:sp>
        <p:nvSpPr>
          <p:cNvPr id="25" name="Text 23"/>
          <p:cNvSpPr txBox="1"/>
          <p:nvPr/>
        </p:nvSpPr>
        <p:spPr>
          <a:xfrm>
            <a:off x="2746941" y="1178404"/>
            <a:ext cx="2103220" cy="13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75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Whisper (whisper-1)</a:t>
            </a:r>
            <a:endParaRPr lang="en-US" sz="675" dirty="0"/>
          </a:p>
        </p:txBody>
      </p:sp>
      <p:sp>
        <p:nvSpPr>
          <p:cNvPr id="26" name="Shape 24"/>
          <p:cNvSpPr/>
          <p:nvPr/>
        </p:nvSpPr>
        <p:spPr>
          <a:xfrm>
            <a:off x="2761228" y="1354878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832664" y="1321961"/>
            <a:ext cx="2014068" cy="126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route /api/transcribe, key server-side</a:t>
            </a:r>
            <a:endParaRPr lang="en-US" sz="630" dirty="0"/>
          </a:p>
        </p:txBody>
      </p:sp>
      <p:sp>
        <p:nvSpPr>
          <p:cNvPr id="28" name="Shape 26"/>
          <p:cNvSpPr/>
          <p:nvPr/>
        </p:nvSpPr>
        <p:spPr>
          <a:xfrm>
            <a:off x="2761228" y="1481100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832664" y="1448183"/>
            <a:ext cx="2014068" cy="126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fallback: Chrome Web Speech API</a:t>
            </a:r>
            <a:endParaRPr lang="en-US" sz="630" dirty="0"/>
          </a:p>
        </p:txBody>
      </p:sp>
      <p:sp>
        <p:nvSpPr>
          <p:cNvPr id="30" name="Shape 28"/>
          <p:cNvSpPr/>
          <p:nvPr/>
        </p:nvSpPr>
        <p:spPr>
          <a:xfrm>
            <a:off x="4865248" y="1447764"/>
            <a:ext cx="114297" cy="0"/>
          </a:xfrm>
          <a:prstGeom prst="line">
            <a:avLst/>
          </a:prstGeom>
          <a:noFill/>
          <a:ln w="15240">
            <a:solidFill>
              <a:srgbClr val="2F6FE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4998595" y="857229"/>
            <a:ext cx="2194505" cy="1181070"/>
          </a:xfrm>
          <a:prstGeom prst="roundRect">
            <a:avLst>
              <a:gd name="adj" fmla="val 6452"/>
            </a:avLst>
          </a:prstGeom>
          <a:solidFill>
            <a:srgbClr val="FFF1E6"/>
          </a:solidFill>
          <a:ln w="24764">
            <a:solidFill>
              <a:srgbClr val="E8590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98595" y="857229"/>
            <a:ext cx="2194505" cy="247644"/>
          </a:xfrm>
          <a:prstGeom prst="roundRect">
            <a:avLst>
              <a:gd name="adj" fmla="val 30769"/>
            </a:avLst>
          </a:prstGeom>
          <a:solidFill>
            <a:srgbClr val="E8590C"/>
          </a:solidFill>
          <a:ln/>
        </p:spPr>
      </p:sp>
      <p:sp>
        <p:nvSpPr>
          <p:cNvPr id="33" name="Shape 31"/>
          <p:cNvSpPr/>
          <p:nvPr/>
        </p:nvSpPr>
        <p:spPr>
          <a:xfrm>
            <a:off x="4998595" y="1009625"/>
            <a:ext cx="2194505" cy="95248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093843" y="945428"/>
            <a:ext cx="111009" cy="13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7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12" dirty="0"/>
          </a:p>
        </p:txBody>
      </p:sp>
      <p:sp>
        <p:nvSpPr>
          <p:cNvPr id="35" name="Text 33"/>
          <p:cNvSpPr txBox="1"/>
          <p:nvPr/>
        </p:nvSpPr>
        <p:spPr>
          <a:xfrm>
            <a:off x="5201315" y="936665"/>
            <a:ext cx="1081458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CLASSIFIER</a:t>
            </a:r>
            <a:endParaRPr lang="en-US" sz="787" dirty="0"/>
          </a:p>
        </p:txBody>
      </p:sp>
      <p:sp>
        <p:nvSpPr>
          <p:cNvPr id="36" name="Text 34"/>
          <p:cNvSpPr txBox="1"/>
          <p:nvPr/>
        </p:nvSpPr>
        <p:spPr>
          <a:xfrm>
            <a:off x="5093843" y="1178404"/>
            <a:ext cx="2103220" cy="13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75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receptionist intents</a:t>
            </a:r>
            <a:endParaRPr lang="en-US" sz="675" dirty="0"/>
          </a:p>
        </p:txBody>
      </p:sp>
      <p:sp>
        <p:nvSpPr>
          <p:cNvPr id="37" name="Shape 35"/>
          <p:cNvSpPr/>
          <p:nvPr/>
        </p:nvSpPr>
        <p:spPr>
          <a:xfrm>
            <a:off x="5108130" y="1354878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179566" y="1321961"/>
            <a:ext cx="2014068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 + similarity to the reference sentence (see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below)</a:t>
            </a:r>
            <a:endParaRPr lang="en-US" sz="630" dirty="0"/>
          </a:p>
        </p:txBody>
      </p:sp>
      <p:sp>
        <p:nvSpPr>
          <p:cNvPr id="39" name="Shape 37"/>
          <p:cNvSpPr/>
          <p:nvPr/>
        </p:nvSpPr>
        <p:spPr>
          <a:xfrm>
            <a:off x="5108130" y="1583511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179566" y="1550593"/>
            <a:ext cx="2014068" cy="126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/api/gloss → { gloss, intents }</a:t>
            </a:r>
            <a:endParaRPr lang="en-US" sz="630" dirty="0"/>
          </a:p>
        </p:txBody>
      </p:sp>
      <p:sp>
        <p:nvSpPr>
          <p:cNvPr id="41" name="Shape 39"/>
          <p:cNvSpPr/>
          <p:nvPr/>
        </p:nvSpPr>
        <p:spPr>
          <a:xfrm>
            <a:off x="7212150" y="1447764"/>
            <a:ext cx="114297" cy="0"/>
          </a:xfrm>
          <a:prstGeom prst="line">
            <a:avLst/>
          </a:prstGeom>
          <a:noFill/>
          <a:ln w="15240">
            <a:solidFill>
              <a:srgbClr val="2F6FEB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7345496" y="857229"/>
            <a:ext cx="2194505" cy="118107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345496" y="857229"/>
            <a:ext cx="2194505" cy="247644"/>
          </a:xfrm>
          <a:prstGeom prst="roundRect">
            <a:avLst>
              <a:gd name="adj" fmla="val 30769"/>
            </a:avLst>
          </a:prstGeom>
          <a:solidFill>
            <a:srgbClr val="2F6FEB"/>
          </a:solidFill>
          <a:ln/>
        </p:spPr>
      </p:sp>
      <p:sp>
        <p:nvSpPr>
          <p:cNvPr id="44" name="Shape 42"/>
          <p:cNvSpPr/>
          <p:nvPr/>
        </p:nvSpPr>
        <p:spPr>
          <a:xfrm>
            <a:off x="7345496" y="1009625"/>
            <a:ext cx="2194505" cy="95248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40744" y="945428"/>
            <a:ext cx="111009" cy="13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7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12" dirty="0"/>
          </a:p>
        </p:txBody>
      </p:sp>
      <p:sp>
        <p:nvSpPr>
          <p:cNvPr id="46" name="Text 44"/>
          <p:cNvSpPr txBox="1"/>
          <p:nvPr/>
        </p:nvSpPr>
        <p:spPr>
          <a:xfrm>
            <a:off x="7548216" y="936665"/>
            <a:ext cx="942913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→ ASL gloss</a:t>
            </a:r>
            <a:endParaRPr lang="en-US" sz="787" dirty="0"/>
          </a:p>
        </p:txBody>
      </p:sp>
      <p:sp>
        <p:nvSpPr>
          <p:cNvPr id="47" name="Text 45"/>
          <p:cNvSpPr txBox="1"/>
          <p:nvPr/>
        </p:nvSpPr>
        <p:spPr>
          <a:xfrm>
            <a:off x="7440744" y="1178404"/>
            <a:ext cx="2103220" cy="13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75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→ curated ASL gloss</a:t>
            </a:r>
            <a:endParaRPr lang="en-US" sz="675" dirty="0"/>
          </a:p>
        </p:txBody>
      </p:sp>
      <p:sp>
        <p:nvSpPr>
          <p:cNvPr id="48" name="Shape 46"/>
          <p:cNvSpPr/>
          <p:nvPr/>
        </p:nvSpPr>
        <p:spPr>
          <a:xfrm>
            <a:off x="7455031" y="1354878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526467" y="1321961"/>
            <a:ext cx="2014068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ASL word order, BROWS-UP / DOWN on questions,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</a:t>
            </a:r>
            <a:endParaRPr lang="en-US" sz="630" dirty="0"/>
          </a:p>
        </p:txBody>
      </p:sp>
      <p:sp>
        <p:nvSpPr>
          <p:cNvPr id="50" name="Shape 48"/>
          <p:cNvSpPr/>
          <p:nvPr/>
        </p:nvSpPr>
        <p:spPr>
          <a:xfrm>
            <a:off x="7455031" y="1583511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526467" y="1550593"/>
            <a:ext cx="2014068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else word by word: 87 signs, synonyms, plurals,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fingerspelling</a:t>
            </a:r>
            <a:endParaRPr lang="en-US" sz="630" dirty="0"/>
          </a:p>
        </p:txBody>
      </p:sp>
      <p:sp>
        <p:nvSpPr>
          <p:cNvPr id="52" name="Shape 50"/>
          <p:cNvSpPr/>
          <p:nvPr/>
        </p:nvSpPr>
        <p:spPr>
          <a:xfrm>
            <a:off x="9559051" y="1447764"/>
            <a:ext cx="114297" cy="0"/>
          </a:xfrm>
          <a:prstGeom prst="line">
            <a:avLst/>
          </a:prstGeom>
          <a:noFill/>
          <a:ln w="15240">
            <a:solidFill>
              <a:srgbClr val="2F6FEB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9692398" y="857229"/>
            <a:ext cx="2194505" cy="118107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692398" y="857229"/>
            <a:ext cx="2194505" cy="247644"/>
          </a:xfrm>
          <a:prstGeom prst="roundRect">
            <a:avLst>
              <a:gd name="adj" fmla="val 30769"/>
            </a:avLst>
          </a:prstGeom>
          <a:solidFill>
            <a:srgbClr val="2F6FEB"/>
          </a:solidFill>
          <a:ln/>
        </p:spPr>
      </p:sp>
      <p:sp>
        <p:nvSpPr>
          <p:cNvPr id="55" name="Shape 53"/>
          <p:cNvSpPr/>
          <p:nvPr/>
        </p:nvSpPr>
        <p:spPr>
          <a:xfrm>
            <a:off x="9692398" y="1009625"/>
            <a:ext cx="2194505" cy="95248"/>
          </a:xfrm>
          <a:prstGeom prst="rect">
            <a:avLst/>
          </a:prstGeom>
          <a:solidFill>
            <a:srgbClr val="2F6FEB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9787645" y="945428"/>
            <a:ext cx="111009" cy="13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7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12" dirty="0"/>
          </a:p>
        </p:txBody>
      </p:sp>
      <p:sp>
        <p:nvSpPr>
          <p:cNvPr id="57" name="Text 55"/>
          <p:cNvSpPr txBox="1"/>
          <p:nvPr/>
        </p:nvSpPr>
        <p:spPr>
          <a:xfrm>
            <a:off x="9895117" y="936665"/>
            <a:ext cx="925697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signing avatar</a:t>
            </a:r>
            <a:endParaRPr lang="en-US" sz="787" dirty="0"/>
          </a:p>
        </p:txBody>
      </p:sp>
      <p:sp>
        <p:nvSpPr>
          <p:cNvPr id="58" name="Text 56"/>
          <p:cNvSpPr txBox="1"/>
          <p:nvPr/>
        </p:nvSpPr>
        <p:spPr>
          <a:xfrm>
            <a:off x="9787645" y="1178404"/>
            <a:ext cx="2103220" cy="13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75" b="1" dirty="0">
                <a:solidFill>
                  <a:srgbClr val="2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Three.js · rigged bellhop (GLB)</a:t>
            </a:r>
            <a:endParaRPr lang="en-US" sz="675" dirty="0"/>
          </a:p>
        </p:txBody>
      </p:sp>
      <p:sp>
        <p:nvSpPr>
          <p:cNvPr id="59" name="Shape 57"/>
          <p:cNvSpPr/>
          <p:nvPr/>
        </p:nvSpPr>
        <p:spPr>
          <a:xfrm>
            <a:off x="9801932" y="1354878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873368" y="1321961"/>
            <a:ext cx="2014068" cy="126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Tripo mesh, Mixamo skeleton, 3 phalanges per finger</a:t>
            </a:r>
            <a:endParaRPr lang="en-US" sz="630" dirty="0"/>
          </a:p>
        </p:txBody>
      </p:sp>
      <p:sp>
        <p:nvSpPr>
          <p:cNvPr id="61" name="Shape 59"/>
          <p:cNvSpPr/>
          <p:nvPr/>
        </p:nvSpPr>
        <p:spPr>
          <a:xfrm>
            <a:off x="9801932" y="1481100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9873368" y="1448183"/>
            <a:ext cx="2014068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replays the team's MediaPipe captures: arm IK, finger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aiming, 30 fps, captions</a:t>
            </a:r>
            <a:endParaRPr lang="en-US" sz="630" dirty="0"/>
          </a:p>
        </p:txBody>
      </p:sp>
      <p:sp>
        <p:nvSpPr>
          <p:cNvPr id="63" name="Text 61"/>
          <p:cNvSpPr txBox="1"/>
          <p:nvPr/>
        </p:nvSpPr>
        <p:spPr>
          <a:xfrm>
            <a:off x="304792" y="2204220"/>
            <a:ext cx="2356297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GUEST → RECEPTIONIST   ASL to speech</a:t>
            </a:r>
            <a:endParaRPr lang="en-US" sz="862" dirty="0"/>
          </a:p>
        </p:txBody>
      </p:sp>
      <p:sp>
        <p:nvSpPr>
          <p:cNvPr id="64" name="Shape 62"/>
          <p:cNvSpPr/>
          <p:nvPr/>
        </p:nvSpPr>
        <p:spPr>
          <a:xfrm>
            <a:off x="304792" y="2381190"/>
            <a:ext cx="2194505" cy="118107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4792" y="2381190"/>
            <a:ext cx="2194505" cy="247644"/>
          </a:xfrm>
          <a:prstGeom prst="roundRect">
            <a:avLst>
              <a:gd name="adj" fmla="val 30769"/>
            </a:avLst>
          </a:prstGeom>
          <a:solidFill>
            <a:srgbClr val="1E9E5A"/>
          </a:solidFill>
          <a:ln/>
        </p:spPr>
      </p:sp>
      <p:sp>
        <p:nvSpPr>
          <p:cNvPr id="66" name="Shape 64"/>
          <p:cNvSpPr/>
          <p:nvPr/>
        </p:nvSpPr>
        <p:spPr>
          <a:xfrm>
            <a:off x="304792" y="2533587"/>
            <a:ext cx="2194505" cy="95248"/>
          </a:xfrm>
          <a:prstGeom prst="rect">
            <a:avLst/>
          </a:prstGeom>
          <a:solidFill>
            <a:srgbClr val="1E9E5A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00040" y="2469390"/>
            <a:ext cx="111009" cy="13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7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12" dirty="0"/>
          </a:p>
        </p:txBody>
      </p:sp>
      <p:sp>
        <p:nvSpPr>
          <p:cNvPr id="68" name="Text 66"/>
          <p:cNvSpPr txBox="1"/>
          <p:nvPr/>
        </p:nvSpPr>
        <p:spPr>
          <a:xfrm>
            <a:off x="507512" y="2460627"/>
            <a:ext cx="1093139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Guest turn &amp; capture</a:t>
            </a:r>
            <a:endParaRPr lang="en-US" sz="787" dirty="0"/>
          </a:p>
        </p:txBody>
      </p:sp>
      <p:sp>
        <p:nvSpPr>
          <p:cNvPr id="69" name="Text 67"/>
          <p:cNvSpPr txBox="1"/>
          <p:nvPr/>
        </p:nvSpPr>
        <p:spPr>
          <a:xfrm>
            <a:off x="400040" y="2702365"/>
            <a:ext cx="2103220" cy="13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75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recognition/live_key.py · OpenCV</a:t>
            </a:r>
            <a:endParaRPr lang="en-US" sz="675" dirty="0"/>
          </a:p>
        </p:txBody>
      </p:sp>
      <p:sp>
        <p:nvSpPr>
          <p:cNvPr id="70" name="Shape 68"/>
          <p:cNvSpPr/>
          <p:nvPr/>
        </p:nvSpPr>
        <p:spPr>
          <a:xfrm>
            <a:off x="414327" y="2878840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485763" y="2845923"/>
            <a:ext cx="2014068" cy="126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when the avatar has finished signing</a:t>
            </a:r>
            <a:endParaRPr lang="en-US" sz="630" dirty="0"/>
          </a:p>
        </p:txBody>
      </p:sp>
      <p:sp>
        <p:nvSpPr>
          <p:cNvPr id="72" name="Shape 70"/>
          <p:cNvSpPr/>
          <p:nvPr/>
        </p:nvSpPr>
        <p:spPr>
          <a:xfrm>
            <a:off x="414327" y="3005062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85763" y="2972145"/>
            <a:ext cx="2014068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ends when the hands rest 2.5 s; live preview on the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</a:t>
            </a:r>
            <a:endParaRPr lang="en-US" sz="630" dirty="0"/>
          </a:p>
        </p:txBody>
      </p:sp>
      <p:sp>
        <p:nvSpPr>
          <p:cNvPr id="74" name="Shape 72"/>
          <p:cNvSpPr/>
          <p:nvPr/>
        </p:nvSpPr>
        <p:spPr>
          <a:xfrm>
            <a:off x="2518347" y="2971726"/>
            <a:ext cx="114297" cy="0"/>
          </a:xfrm>
          <a:prstGeom prst="line">
            <a:avLst/>
          </a:prstGeom>
          <a:noFill/>
          <a:ln w="15240">
            <a:solidFill>
              <a:srgbClr val="1E9E5A"/>
            </a:solidFill>
            <a:prstDash val="solid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2651694" y="2381190"/>
            <a:ext cx="2194505" cy="118107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51694" y="2381190"/>
            <a:ext cx="2194505" cy="247644"/>
          </a:xfrm>
          <a:prstGeom prst="roundRect">
            <a:avLst>
              <a:gd name="adj" fmla="val 30769"/>
            </a:avLst>
          </a:prstGeom>
          <a:solidFill>
            <a:srgbClr val="1E9E5A"/>
          </a:solidFill>
          <a:ln/>
        </p:spPr>
      </p:sp>
      <p:sp>
        <p:nvSpPr>
          <p:cNvPr id="77" name="Shape 75"/>
          <p:cNvSpPr/>
          <p:nvPr/>
        </p:nvSpPr>
        <p:spPr>
          <a:xfrm>
            <a:off x="2651694" y="2533587"/>
            <a:ext cx="2194505" cy="95248"/>
          </a:xfrm>
          <a:prstGeom prst="rect">
            <a:avLst/>
          </a:prstGeom>
          <a:solidFill>
            <a:srgbClr val="1E9E5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746941" y="2469390"/>
            <a:ext cx="111009" cy="13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7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12" dirty="0"/>
          </a:p>
        </p:txBody>
      </p:sp>
      <p:sp>
        <p:nvSpPr>
          <p:cNvPr id="79" name="Text 77"/>
          <p:cNvSpPr txBox="1"/>
          <p:nvPr/>
        </p:nvSpPr>
        <p:spPr>
          <a:xfrm>
            <a:off x="2854413" y="2460627"/>
            <a:ext cx="613615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Landmarks</a:t>
            </a:r>
            <a:endParaRPr lang="en-US" sz="787" dirty="0"/>
          </a:p>
        </p:txBody>
      </p:sp>
      <p:sp>
        <p:nvSpPr>
          <p:cNvPr id="80" name="Text 78"/>
          <p:cNvSpPr txBox="1"/>
          <p:nvPr/>
        </p:nvSpPr>
        <p:spPr>
          <a:xfrm>
            <a:off x="2746941" y="2702365"/>
            <a:ext cx="2103220" cy="13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75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 Holistic 1.1.0, on-device</a:t>
            </a:r>
            <a:endParaRPr lang="en-US" sz="675" dirty="0"/>
          </a:p>
        </p:txBody>
      </p:sp>
      <p:sp>
        <p:nvSpPr>
          <p:cNvPr id="81" name="Shape 79"/>
          <p:cNvSpPr/>
          <p:nvPr/>
        </p:nvSpPr>
        <p:spPr>
          <a:xfrm>
            <a:off x="2761228" y="2878840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2832664" y="2845923"/>
            <a:ext cx="2014068" cy="126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pose + 2 × 21 hand + 26 face points</a:t>
            </a:r>
            <a:endParaRPr lang="en-US" sz="630" dirty="0"/>
          </a:p>
        </p:txBody>
      </p:sp>
      <p:sp>
        <p:nvSpPr>
          <p:cNvPr id="83" name="Shape 81"/>
          <p:cNvSpPr/>
          <p:nvPr/>
        </p:nvSpPr>
        <p:spPr>
          <a:xfrm>
            <a:off x="2761228" y="3005062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2832664" y="2972145"/>
            <a:ext cx="2014068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shoulder-normalized, 30 fps; no video leaves the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laptop</a:t>
            </a:r>
            <a:endParaRPr lang="en-US" sz="630" dirty="0"/>
          </a:p>
        </p:txBody>
      </p:sp>
      <p:sp>
        <p:nvSpPr>
          <p:cNvPr id="85" name="Shape 83"/>
          <p:cNvSpPr/>
          <p:nvPr/>
        </p:nvSpPr>
        <p:spPr>
          <a:xfrm>
            <a:off x="4865248" y="2971726"/>
            <a:ext cx="114297" cy="0"/>
          </a:xfrm>
          <a:prstGeom prst="line">
            <a:avLst/>
          </a:prstGeom>
          <a:noFill/>
          <a:ln w="15240">
            <a:solidFill>
              <a:srgbClr val="1E9E5A"/>
            </a:solidFill>
            <a:prstDash val="solid"/>
            <a:tailEnd type="triangle"/>
          </a:ln>
        </p:spPr>
      </p:sp>
      <p:sp>
        <p:nvSpPr>
          <p:cNvPr id="86" name="Shape 84"/>
          <p:cNvSpPr/>
          <p:nvPr/>
        </p:nvSpPr>
        <p:spPr>
          <a:xfrm>
            <a:off x="4998595" y="2381190"/>
            <a:ext cx="2194505" cy="118107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998595" y="2381190"/>
            <a:ext cx="2194505" cy="247644"/>
          </a:xfrm>
          <a:prstGeom prst="roundRect">
            <a:avLst>
              <a:gd name="adj" fmla="val 30769"/>
            </a:avLst>
          </a:prstGeom>
          <a:solidFill>
            <a:srgbClr val="1E9E5A"/>
          </a:solidFill>
          <a:ln/>
        </p:spPr>
      </p:sp>
      <p:sp>
        <p:nvSpPr>
          <p:cNvPr id="88" name="Shape 86"/>
          <p:cNvSpPr/>
          <p:nvPr/>
        </p:nvSpPr>
        <p:spPr>
          <a:xfrm>
            <a:off x="4998595" y="2533587"/>
            <a:ext cx="2194505" cy="95248"/>
          </a:xfrm>
          <a:prstGeom prst="rect">
            <a:avLst/>
          </a:prstGeom>
          <a:solidFill>
            <a:srgbClr val="1E9E5A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5093843" y="2469390"/>
            <a:ext cx="111009" cy="13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7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12" dirty="0"/>
          </a:p>
        </p:txBody>
      </p:sp>
      <p:sp>
        <p:nvSpPr>
          <p:cNvPr id="90" name="Text 88"/>
          <p:cNvSpPr txBox="1"/>
          <p:nvPr/>
        </p:nvSpPr>
        <p:spPr>
          <a:xfrm>
            <a:off x="5201315" y="2460627"/>
            <a:ext cx="763942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classifier</a:t>
            </a:r>
            <a:endParaRPr lang="en-US" sz="787" dirty="0"/>
          </a:p>
        </p:txBody>
      </p:sp>
      <p:sp>
        <p:nvSpPr>
          <p:cNvPr id="91" name="Text 89"/>
          <p:cNvSpPr txBox="1"/>
          <p:nvPr/>
        </p:nvSpPr>
        <p:spPr>
          <a:xfrm>
            <a:off x="5093843" y="2702365"/>
            <a:ext cx="2103220" cy="13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75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PyTorch, 22 classes (21 signs + NONE)</a:t>
            </a:r>
            <a:endParaRPr lang="en-US" sz="675" dirty="0"/>
          </a:p>
        </p:txBody>
      </p:sp>
      <p:sp>
        <p:nvSpPr>
          <p:cNvPr id="92" name="Shape 90"/>
          <p:cNvSpPr/>
          <p:nvPr/>
        </p:nvSpPr>
        <p:spPr>
          <a:xfrm>
            <a:off x="5108130" y="2878840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5179566" y="2845923"/>
            <a:ext cx="2014068" cy="126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on the team's 1,320 takes (see below)</a:t>
            </a:r>
            <a:endParaRPr lang="en-US" sz="630" dirty="0"/>
          </a:p>
        </p:txBody>
      </p:sp>
      <p:sp>
        <p:nvSpPr>
          <p:cNvPr id="94" name="Shape 92"/>
          <p:cNvSpPr/>
          <p:nvPr/>
        </p:nvSpPr>
        <p:spPr>
          <a:xfrm>
            <a:off x="5108130" y="3005062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5179566" y="2972145"/>
            <a:ext cx="2014068" cy="126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scores sliding 1 s windows (step 0.13 s)</a:t>
            </a:r>
            <a:endParaRPr lang="en-US" sz="630" dirty="0"/>
          </a:p>
        </p:txBody>
      </p:sp>
      <p:sp>
        <p:nvSpPr>
          <p:cNvPr id="96" name="Shape 94"/>
          <p:cNvSpPr/>
          <p:nvPr/>
        </p:nvSpPr>
        <p:spPr>
          <a:xfrm>
            <a:off x="7212150" y="2971726"/>
            <a:ext cx="114297" cy="0"/>
          </a:xfrm>
          <a:prstGeom prst="line">
            <a:avLst/>
          </a:prstGeom>
          <a:noFill/>
          <a:ln w="15240">
            <a:solidFill>
              <a:srgbClr val="1E9E5A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7345496" y="2381190"/>
            <a:ext cx="2194505" cy="1181070"/>
          </a:xfrm>
          <a:prstGeom prst="roundRect">
            <a:avLst>
              <a:gd name="adj" fmla="val 6452"/>
            </a:avLst>
          </a:prstGeom>
          <a:solidFill>
            <a:srgbClr val="FFF1E6"/>
          </a:solidFill>
          <a:ln w="24764">
            <a:solidFill>
              <a:srgbClr val="E8590C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345496" y="2381190"/>
            <a:ext cx="2194505" cy="247644"/>
          </a:xfrm>
          <a:prstGeom prst="roundRect">
            <a:avLst>
              <a:gd name="adj" fmla="val 30769"/>
            </a:avLst>
          </a:prstGeom>
          <a:solidFill>
            <a:srgbClr val="E8590C"/>
          </a:solidFill>
          <a:ln/>
        </p:spPr>
      </p:sp>
      <p:sp>
        <p:nvSpPr>
          <p:cNvPr id="99" name="Shape 97"/>
          <p:cNvSpPr/>
          <p:nvPr/>
        </p:nvSpPr>
        <p:spPr>
          <a:xfrm>
            <a:off x="7345496" y="2533587"/>
            <a:ext cx="2194505" cy="95248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7440744" y="2469390"/>
            <a:ext cx="111009" cy="13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7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12" dirty="0"/>
          </a:p>
        </p:txBody>
      </p:sp>
      <p:sp>
        <p:nvSpPr>
          <p:cNvPr id="101" name="Text 99"/>
          <p:cNvSpPr txBox="1"/>
          <p:nvPr/>
        </p:nvSpPr>
        <p:spPr>
          <a:xfrm>
            <a:off x="7548216" y="2460627"/>
            <a:ext cx="983238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DECODER</a:t>
            </a:r>
            <a:endParaRPr lang="en-US" sz="787" dirty="0"/>
          </a:p>
        </p:txBody>
      </p:sp>
      <p:sp>
        <p:nvSpPr>
          <p:cNvPr id="102" name="Text 100"/>
          <p:cNvSpPr txBox="1"/>
          <p:nvPr/>
        </p:nvSpPr>
        <p:spPr>
          <a:xfrm>
            <a:off x="7440744" y="2702365"/>
            <a:ext cx="2103220" cy="13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75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guest sentences = guest intents</a:t>
            </a:r>
            <a:endParaRPr lang="en-US" sz="675" dirty="0"/>
          </a:p>
        </p:txBody>
      </p:sp>
      <p:sp>
        <p:nvSpPr>
          <p:cNvPr id="103" name="Shape 101"/>
          <p:cNvSpPr/>
          <p:nvPr/>
        </p:nvSpPr>
        <p:spPr>
          <a:xfrm>
            <a:off x="7455031" y="2878840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7526467" y="2845923"/>
            <a:ext cx="2014068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aligns each sentence on the window probabilities (see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below)</a:t>
            </a:r>
            <a:endParaRPr lang="en-US" sz="630" dirty="0"/>
          </a:p>
        </p:txBody>
      </p:sp>
      <p:sp>
        <p:nvSpPr>
          <p:cNvPr id="105" name="Shape 103"/>
          <p:cNvSpPr/>
          <p:nvPr/>
        </p:nvSpPr>
        <p:spPr>
          <a:xfrm>
            <a:off x="7455031" y="3107473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526467" y="3074555"/>
            <a:ext cx="2014068" cy="126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recognition/sentence.py</a:t>
            </a:r>
            <a:endParaRPr lang="en-US" sz="630" dirty="0"/>
          </a:p>
        </p:txBody>
      </p:sp>
      <p:sp>
        <p:nvSpPr>
          <p:cNvPr id="107" name="Shape 105"/>
          <p:cNvSpPr/>
          <p:nvPr/>
        </p:nvSpPr>
        <p:spPr>
          <a:xfrm>
            <a:off x="9559051" y="2971726"/>
            <a:ext cx="114297" cy="0"/>
          </a:xfrm>
          <a:prstGeom prst="line">
            <a:avLst/>
          </a:prstGeom>
          <a:noFill/>
          <a:ln w="15240">
            <a:solidFill>
              <a:srgbClr val="1E9E5A"/>
            </a:solidFill>
            <a:prstDash val="solid"/>
            <a:tailEnd type="triangle"/>
          </a:ln>
        </p:spPr>
      </p:sp>
      <p:sp>
        <p:nvSpPr>
          <p:cNvPr id="108" name="Shape 106"/>
          <p:cNvSpPr/>
          <p:nvPr/>
        </p:nvSpPr>
        <p:spPr>
          <a:xfrm>
            <a:off x="9692398" y="2381190"/>
            <a:ext cx="2194505" cy="118107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692398" y="2381190"/>
            <a:ext cx="2194505" cy="247644"/>
          </a:xfrm>
          <a:prstGeom prst="roundRect">
            <a:avLst>
              <a:gd name="adj" fmla="val 30769"/>
            </a:avLst>
          </a:prstGeom>
          <a:solidFill>
            <a:srgbClr val="1E9E5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692398" y="2533587"/>
            <a:ext cx="2194505" cy="95248"/>
          </a:xfrm>
          <a:prstGeom prst="rect">
            <a:avLst/>
          </a:prstGeom>
          <a:solidFill>
            <a:srgbClr val="1E9E5A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9787645" y="2469390"/>
            <a:ext cx="111009" cy="13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5"/>
              </a:lnSpc>
              <a:buNone/>
            </a:pPr>
            <a:r>
              <a:rPr lang="en-US" sz="71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12" dirty="0"/>
          </a:p>
        </p:txBody>
      </p:sp>
      <p:sp>
        <p:nvSpPr>
          <p:cNvPr id="112" name="Text 110"/>
          <p:cNvSpPr txBox="1"/>
          <p:nvPr/>
        </p:nvSpPr>
        <p:spPr>
          <a:xfrm>
            <a:off x="9895117" y="2460627"/>
            <a:ext cx="786948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to speech</a:t>
            </a:r>
            <a:endParaRPr lang="en-US" sz="787" dirty="0"/>
          </a:p>
        </p:txBody>
      </p:sp>
      <p:sp>
        <p:nvSpPr>
          <p:cNvPr id="113" name="Text 111"/>
          <p:cNvSpPr txBox="1"/>
          <p:nvPr/>
        </p:nvSpPr>
        <p:spPr>
          <a:xfrm>
            <a:off x="9787645" y="2702365"/>
            <a:ext cx="2103220" cy="135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64"/>
              </a:lnSpc>
              <a:buNone/>
            </a:pPr>
            <a:r>
              <a:rPr lang="en-US" sz="675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ElevenLabs (eleven_flash_v2_5)</a:t>
            </a:r>
            <a:endParaRPr lang="en-US" sz="675" dirty="0"/>
          </a:p>
        </p:txBody>
      </p:sp>
      <p:sp>
        <p:nvSpPr>
          <p:cNvPr id="114" name="Shape 112"/>
          <p:cNvSpPr/>
          <p:nvPr/>
        </p:nvSpPr>
        <p:spPr>
          <a:xfrm>
            <a:off x="9801932" y="2878840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873368" y="2845923"/>
            <a:ext cx="2014068" cy="126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route /api/tts; fallback: browser voice</a:t>
            </a:r>
            <a:endParaRPr lang="en-US" sz="630" dirty="0"/>
          </a:p>
        </p:txBody>
      </p:sp>
      <p:sp>
        <p:nvSpPr>
          <p:cNvPr id="116" name="Shape 114"/>
          <p:cNvSpPr/>
          <p:nvPr/>
        </p:nvSpPr>
        <p:spPr>
          <a:xfrm>
            <a:off x="9801932" y="3005062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873368" y="2972145"/>
            <a:ext cx="2014068" cy="1264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spoken on the laptop + “You said: …” on screen</a:t>
            </a:r>
            <a:endParaRPr lang="en-US" sz="630" dirty="0"/>
          </a:p>
        </p:txBody>
      </p:sp>
      <p:sp>
        <p:nvSpPr>
          <p:cNvPr id="118" name="Text 116"/>
          <p:cNvSpPr txBox="1"/>
          <p:nvPr/>
        </p:nvSpPr>
        <p:spPr>
          <a:xfrm>
            <a:off x="304792" y="3975826"/>
            <a:ext cx="2020556" cy="164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2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CLASSIFIERS ARE BUILT</a:t>
            </a:r>
            <a:endParaRPr lang="en-US" sz="862" dirty="0"/>
          </a:p>
        </p:txBody>
      </p:sp>
      <p:sp>
        <p:nvSpPr>
          <p:cNvPr id="119" name="Shape 117"/>
          <p:cNvSpPr/>
          <p:nvPr/>
        </p:nvSpPr>
        <p:spPr>
          <a:xfrm>
            <a:off x="304792" y="4190895"/>
            <a:ext cx="3759106" cy="1600160"/>
          </a:xfrm>
          <a:prstGeom prst="roundRect">
            <a:avLst>
              <a:gd name="adj" fmla="val 4762"/>
            </a:avLst>
          </a:prstGeom>
          <a:solidFill>
            <a:srgbClr val="FFF1E6"/>
          </a:solidFill>
          <a:ln w="24764">
            <a:solidFill>
              <a:srgbClr val="E8590C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304792" y="4190895"/>
            <a:ext cx="3759106" cy="247644"/>
          </a:xfrm>
          <a:prstGeom prst="roundRect">
            <a:avLst>
              <a:gd name="adj" fmla="val 30769"/>
            </a:avLst>
          </a:prstGeom>
          <a:solidFill>
            <a:srgbClr val="E8590C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04792" y="4343291"/>
            <a:ext cx="3759106" cy="95248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400040" y="4270332"/>
            <a:ext cx="1573019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classifier — receptionist</a:t>
            </a:r>
            <a:endParaRPr lang="en-US" sz="787" dirty="0"/>
          </a:p>
        </p:txBody>
      </p:sp>
      <p:sp>
        <p:nvSpPr>
          <p:cNvPr id="123" name="Text 121"/>
          <p:cNvSpPr txBox="1"/>
          <p:nvPr/>
        </p:nvSpPr>
        <p:spPr>
          <a:xfrm>
            <a:off x="400040" y="4507689"/>
            <a:ext cx="3730405" cy="142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2"/>
              </a:lnSpc>
              <a:buNone/>
            </a:pPr>
            <a:r>
              <a:rPr lang="en-US" sz="712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Rule-based · TypeScript · no training</a:t>
            </a:r>
            <a:endParaRPr lang="en-US" sz="712" dirty="0"/>
          </a:p>
        </p:txBody>
      </p:sp>
      <p:sp>
        <p:nvSpPr>
          <p:cNvPr id="124" name="Shape 122"/>
          <p:cNvSpPr/>
          <p:nvPr/>
        </p:nvSpPr>
        <p:spPr>
          <a:xfrm>
            <a:off x="414327" y="4694327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485763" y="4660847"/>
            <a:ext cx="3641253" cy="127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intents, one per receptionist sentence of docs/vocabulary.md</a:t>
            </a:r>
            <a:endParaRPr lang="en-US" sz="637" dirty="0"/>
          </a:p>
        </p:txBody>
      </p:sp>
      <p:sp>
        <p:nvSpPr>
          <p:cNvPr id="126" name="Shape 124"/>
          <p:cNvSpPr/>
          <p:nvPr/>
        </p:nvSpPr>
        <p:spPr>
          <a:xfrm>
            <a:off x="414327" y="4821768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485763" y="4788288"/>
            <a:ext cx="3641253" cy="127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patterns per intent (regex), incl. Whisper variants: keycard, wi-fi, booking…</a:t>
            </a:r>
            <a:endParaRPr lang="en-US" sz="637" dirty="0"/>
          </a:p>
        </p:txBody>
      </p:sp>
      <p:sp>
        <p:nvSpPr>
          <p:cNvPr id="128" name="Shape 126"/>
          <p:cNvSpPr/>
          <p:nvPr/>
        </p:nvSpPr>
        <p:spPr>
          <a:xfrm>
            <a:off x="414327" y="4949209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485763" y="4915730"/>
            <a:ext cx="3641253" cy="231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 only if ≥ 1/3 of the sentence's content words belong to its reference sentence; ties → most</a:t>
            </a:r>
            <a:endParaRPr lang="en-US" sz="637" dirty="0"/>
          </a:p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 rule</a:t>
            </a:r>
            <a:endParaRPr lang="en-US" sz="637" dirty="0"/>
          </a:p>
        </p:txBody>
      </p:sp>
      <p:sp>
        <p:nvSpPr>
          <p:cNvPr id="130" name="Shape 128"/>
          <p:cNvSpPr/>
          <p:nvPr/>
        </p:nvSpPr>
        <p:spPr>
          <a:xfrm>
            <a:off x="414327" y="5180280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485763" y="5146800"/>
            <a:ext cx="3641253" cy="127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slots by regex: room number, times → ASL numbers</a:t>
            </a:r>
            <a:endParaRPr lang="en-US" sz="637" dirty="0"/>
          </a:p>
        </p:txBody>
      </p:sp>
      <p:sp>
        <p:nvSpPr>
          <p:cNvPr id="132" name="Shape 130"/>
          <p:cNvSpPr/>
          <p:nvPr/>
        </p:nvSpPr>
        <p:spPr>
          <a:xfrm>
            <a:off x="414327" y="5307721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485763" y="5274242"/>
            <a:ext cx="3641253" cy="127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deterministic, unit-tested: 20 / 20 vocabulary sentences</a:t>
            </a:r>
            <a:endParaRPr lang="en-US" sz="637" dirty="0"/>
          </a:p>
        </p:txBody>
      </p:sp>
      <p:sp>
        <p:nvSpPr>
          <p:cNvPr id="134" name="Shape 132"/>
          <p:cNvSpPr/>
          <p:nvPr/>
        </p:nvSpPr>
        <p:spPr>
          <a:xfrm>
            <a:off x="4216295" y="4190895"/>
            <a:ext cx="3759106" cy="160016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4216295" y="4190895"/>
            <a:ext cx="3759106" cy="247644"/>
          </a:xfrm>
          <a:prstGeom prst="roundRect">
            <a:avLst>
              <a:gd name="adj" fmla="val 30769"/>
            </a:avLst>
          </a:prstGeom>
          <a:solidFill>
            <a:srgbClr val="1E9E5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216295" y="4343291"/>
            <a:ext cx="3759106" cy="95248"/>
          </a:xfrm>
          <a:prstGeom prst="rect">
            <a:avLst/>
          </a:prstGeom>
          <a:solidFill>
            <a:srgbClr val="1E9E5A"/>
          </a:solidFill>
          <a:ln/>
        </p:spPr>
      </p:sp>
      <p:sp>
        <p:nvSpPr>
          <p:cNvPr id="137" name="Text 135"/>
          <p:cNvSpPr txBox="1"/>
          <p:nvPr/>
        </p:nvSpPr>
        <p:spPr>
          <a:xfrm>
            <a:off x="4311542" y="4270332"/>
            <a:ext cx="763942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classifier</a:t>
            </a:r>
            <a:endParaRPr lang="en-US" sz="787" dirty="0"/>
          </a:p>
        </p:txBody>
      </p:sp>
      <p:sp>
        <p:nvSpPr>
          <p:cNvPr id="138" name="Text 136"/>
          <p:cNvSpPr txBox="1"/>
          <p:nvPr/>
        </p:nvSpPr>
        <p:spPr>
          <a:xfrm>
            <a:off x="4311542" y="4507689"/>
            <a:ext cx="3730405" cy="142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2"/>
              </a:lnSpc>
              <a:buNone/>
            </a:pPr>
            <a:r>
              <a:rPr lang="en-US" sz="712" b="1" dirty="0">
                <a:solidFill>
                  <a:srgbClr val="1E9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· PyTorch · on our own data</a:t>
            </a:r>
            <a:endParaRPr lang="en-US" sz="712" dirty="0"/>
          </a:p>
        </p:txBody>
      </p:sp>
      <p:sp>
        <p:nvSpPr>
          <p:cNvPr id="139" name="Shape 137"/>
          <p:cNvSpPr/>
          <p:nvPr/>
        </p:nvSpPr>
        <p:spPr>
          <a:xfrm>
            <a:off x="4325829" y="4694327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4397265" y="4660847"/>
            <a:ext cx="3641253" cy="127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data: 1,320 takes = 5 signers × 22 classes × 12, MediaPipe (capture/train_session.py)</a:t>
            </a:r>
            <a:endParaRPr lang="en-US" sz="637" dirty="0"/>
          </a:p>
        </p:txBody>
      </p:sp>
      <p:sp>
        <p:nvSpPr>
          <p:cNvPr id="141" name="Shape 139"/>
          <p:cNvSpPr/>
          <p:nvPr/>
        </p:nvSpPr>
        <p:spPr>
          <a:xfrm>
            <a:off x="4325829" y="4821768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4397265" y="4788288"/>
            <a:ext cx="3641253" cy="127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 141 per frame (hand shape relative to the wrist, upper body, nose), 32 time steps</a:t>
            </a:r>
            <a:endParaRPr lang="en-US" sz="637" dirty="0"/>
          </a:p>
        </p:txBody>
      </p:sp>
      <p:sp>
        <p:nvSpPr>
          <p:cNvPr id="143" name="Shape 141"/>
          <p:cNvSpPr/>
          <p:nvPr/>
        </p:nvSpPr>
        <p:spPr>
          <a:xfrm>
            <a:off x="4325829" y="4949209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4397265" y="4915730"/>
            <a:ext cx="3641253" cy="231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kept: logistic regression on per-take statistics (mean, std, min, max, thirds), L-BFGS,</a:t>
            </a:r>
            <a:endParaRPr lang="en-US" sz="637" dirty="0"/>
          </a:p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temperature-calibrated</a:t>
            </a:r>
            <a:endParaRPr lang="en-US" sz="637" dirty="0"/>
          </a:p>
        </p:txBody>
      </p:sp>
      <p:sp>
        <p:nvSpPr>
          <p:cNvPr id="145" name="Shape 143"/>
          <p:cNvSpPr/>
          <p:nvPr/>
        </p:nvSpPr>
        <p:spPr>
          <a:xfrm>
            <a:off x="4325829" y="5180280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4397265" y="5146800"/>
            <a:ext cx="3641253" cy="231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a 2-layer BiGRU (AdamW, augmentation): the simpler model won, 89.8 % vs 87.9 %</a:t>
            </a:r>
            <a:endParaRPr lang="en-US" sz="637" dirty="0"/>
          </a:p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(leave-one-signer-out)</a:t>
            </a:r>
            <a:endParaRPr lang="en-US" sz="637" dirty="0"/>
          </a:p>
        </p:txBody>
      </p:sp>
      <p:sp>
        <p:nvSpPr>
          <p:cNvPr id="147" name="Shape 145"/>
          <p:cNvSpPr/>
          <p:nvPr/>
        </p:nvSpPr>
        <p:spPr>
          <a:xfrm>
            <a:off x="8127797" y="4190895"/>
            <a:ext cx="3759106" cy="1600160"/>
          </a:xfrm>
          <a:prstGeom prst="roundRect">
            <a:avLst>
              <a:gd name="adj" fmla="val 4762"/>
            </a:avLst>
          </a:prstGeom>
          <a:solidFill>
            <a:srgbClr val="FFF1E6"/>
          </a:solidFill>
          <a:ln w="24764">
            <a:solidFill>
              <a:srgbClr val="E8590C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8127797" y="4190895"/>
            <a:ext cx="3759106" cy="247644"/>
          </a:xfrm>
          <a:prstGeom prst="roundRect">
            <a:avLst>
              <a:gd name="adj" fmla="val 30769"/>
            </a:avLst>
          </a:prstGeom>
          <a:solidFill>
            <a:srgbClr val="E8590C"/>
          </a:solidFill>
          <a:ln/>
        </p:spPr>
      </p:sp>
      <p:sp>
        <p:nvSpPr>
          <p:cNvPr id="149" name="Shape 147"/>
          <p:cNvSpPr/>
          <p:nvPr/>
        </p:nvSpPr>
        <p:spPr>
          <a:xfrm>
            <a:off x="8127797" y="4343291"/>
            <a:ext cx="3759106" cy="95248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8223044" y="4270332"/>
            <a:ext cx="1214468" cy="15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7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decoder — guest</a:t>
            </a:r>
            <a:endParaRPr lang="en-US" sz="787" dirty="0"/>
          </a:p>
        </p:txBody>
      </p:sp>
      <p:sp>
        <p:nvSpPr>
          <p:cNvPr id="151" name="Text 149"/>
          <p:cNvSpPr txBox="1"/>
          <p:nvPr/>
        </p:nvSpPr>
        <p:spPr>
          <a:xfrm>
            <a:off x="8223044" y="4507689"/>
            <a:ext cx="3730405" cy="142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2"/>
              </a:lnSpc>
              <a:buNone/>
            </a:pPr>
            <a:r>
              <a:rPr lang="en-US" sz="712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 · Python / NumPy · no training</a:t>
            </a:r>
            <a:endParaRPr lang="en-US" sz="712" dirty="0"/>
          </a:p>
        </p:txBody>
      </p:sp>
      <p:sp>
        <p:nvSpPr>
          <p:cNvPr id="152" name="Shape 150"/>
          <p:cNvSpPr/>
          <p:nvPr/>
        </p:nvSpPr>
        <p:spPr>
          <a:xfrm>
            <a:off x="8237332" y="4694327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8308767" y="4660847"/>
            <a:ext cx="3641253" cy="127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input: classifier probabilities on sliding 1 s windows</a:t>
            </a:r>
            <a:endParaRPr lang="en-US" sz="637" dirty="0"/>
          </a:p>
        </p:txBody>
      </p:sp>
      <p:sp>
        <p:nvSpPr>
          <p:cNvPr id="154" name="Shape 152"/>
          <p:cNvSpPr/>
          <p:nvPr/>
        </p:nvSpPr>
        <p:spPr>
          <a:xfrm>
            <a:off x="8237332" y="4821768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8308767" y="4788288"/>
            <a:ext cx="3641253" cy="231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of the 22 guest sentences is aligned on the windows: its signs in order, each on a</a:t>
            </a:r>
            <a:endParaRPr lang="en-US" sz="637" dirty="0"/>
          </a:p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contiguous run (monotonic dynamic programming)</a:t>
            </a:r>
            <a:endParaRPr lang="en-US" sz="637" dirty="0"/>
          </a:p>
        </p:txBody>
      </p:sp>
      <p:sp>
        <p:nvSpPr>
          <p:cNvPr id="156" name="Shape 154"/>
          <p:cNvSpPr/>
          <p:nvPr/>
        </p:nvSpPr>
        <p:spPr>
          <a:xfrm>
            <a:off x="8237332" y="5052839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57" name="Text 155"/>
          <p:cNvSpPr txBox="1"/>
          <p:nvPr/>
        </p:nvSpPr>
        <p:spPr>
          <a:xfrm>
            <a:off x="8308767" y="5019359"/>
            <a:ext cx="3641253" cy="127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= mean log-probability; the best sentence wins, so misread signs are fixed by the sentence</a:t>
            </a:r>
            <a:endParaRPr lang="en-US" sz="637" dirty="0"/>
          </a:p>
        </p:txBody>
      </p:sp>
      <p:sp>
        <p:nvSpPr>
          <p:cNvPr id="158" name="Shape 156"/>
          <p:cNvSpPr/>
          <p:nvPr/>
        </p:nvSpPr>
        <p:spPr>
          <a:xfrm>
            <a:off x="8237332" y="5180280"/>
            <a:ext cx="28574" cy="28574"/>
          </a:xfrm>
          <a:prstGeom prst="ellipse">
            <a:avLst/>
          </a:prstGeom>
          <a:solidFill>
            <a:srgbClr val="5B6578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8308767" y="5146800"/>
            <a:ext cx="3641253" cy="127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6"/>
              </a:lnSpc>
              <a:buNone/>
            </a:pPr>
            <a:r>
              <a:rPr lang="en-US" sz="637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 length tuned on a held-out signer: 1 s → 90 %, 1.7 s → 84 %</a:t>
            </a:r>
            <a:endParaRPr lang="en-US" sz="637" dirty="0"/>
          </a:p>
        </p:txBody>
      </p:sp>
      <p:sp>
        <p:nvSpPr>
          <p:cNvPr id="160" name="Shape 158"/>
          <p:cNvSpPr/>
          <p:nvPr/>
        </p:nvSpPr>
        <p:spPr>
          <a:xfrm>
            <a:off x="304792" y="5962501"/>
            <a:ext cx="3759106" cy="666733"/>
          </a:xfrm>
          <a:prstGeom prst="roundRect">
            <a:avLst>
              <a:gd name="adj" fmla="val 11429"/>
            </a:avLst>
          </a:prstGeom>
          <a:solidFill>
            <a:srgbClr val="F5F7FA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419090" y="6046319"/>
            <a:ext cx="1384970" cy="142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Turn-taking  web/lib/turns.ts</a:t>
            </a:r>
            <a:endParaRPr lang="en-US" sz="750" dirty="0"/>
          </a:p>
        </p:txBody>
      </p:sp>
      <p:sp>
        <p:nvSpPr>
          <p:cNvPr id="162" name="Text 160"/>
          <p:cNvSpPr txBox="1"/>
          <p:nvPr/>
        </p:nvSpPr>
        <p:spPr>
          <a:xfrm>
            <a:off x="419090" y="6203211"/>
            <a:ext cx="3690782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DESK → GUEST → SPEAKING → FRONT DESK · mic muted during the guest turn ·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 via POST /api/guest/signs → SSE</a:t>
            </a:r>
            <a:endParaRPr lang="en-US" sz="630" dirty="0"/>
          </a:p>
        </p:txBody>
      </p:sp>
      <p:sp>
        <p:nvSpPr>
          <p:cNvPr id="163" name="Shape 161"/>
          <p:cNvSpPr/>
          <p:nvPr/>
        </p:nvSpPr>
        <p:spPr>
          <a:xfrm>
            <a:off x="4216295" y="5962501"/>
            <a:ext cx="3759106" cy="666733"/>
          </a:xfrm>
          <a:prstGeom prst="roundRect">
            <a:avLst>
              <a:gd name="adj" fmla="val 11429"/>
            </a:avLst>
          </a:prstGeom>
          <a:solidFill>
            <a:srgbClr val="F5F7FA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4330592" y="6046319"/>
            <a:ext cx="323003" cy="142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</a:t>
            </a:r>
            <a:endParaRPr lang="en-US" sz="750" dirty="0"/>
          </a:p>
        </p:txBody>
      </p:sp>
      <p:sp>
        <p:nvSpPr>
          <p:cNvPr id="165" name="Text 163"/>
          <p:cNvSpPr txBox="1"/>
          <p:nvPr/>
        </p:nvSpPr>
        <p:spPr>
          <a:xfrm>
            <a:off x="4330592" y="6203211"/>
            <a:ext cx="3690782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16 · React 19 · Three.js · Python 3.12 · MediaPipe 1.1.0 · OpenCV · PyTorch · Whisper ·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ElevenLabs</a:t>
            </a:r>
            <a:endParaRPr lang="en-US" sz="630" dirty="0"/>
          </a:p>
        </p:txBody>
      </p:sp>
      <p:sp>
        <p:nvSpPr>
          <p:cNvPr id="166" name="Shape 164"/>
          <p:cNvSpPr/>
          <p:nvPr/>
        </p:nvSpPr>
        <p:spPr>
          <a:xfrm>
            <a:off x="8127797" y="5962501"/>
            <a:ext cx="3759106" cy="666733"/>
          </a:xfrm>
          <a:prstGeom prst="roundRect">
            <a:avLst>
              <a:gd name="adj" fmla="val 11429"/>
            </a:avLst>
          </a:prstGeom>
          <a:solidFill>
            <a:srgbClr val="F5F7FA"/>
          </a:solidFill>
          <a:ln w="9525">
            <a:solidFill>
              <a:srgbClr val="D5DCE5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8242094" y="6046319"/>
            <a:ext cx="416498" cy="142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0E2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750" dirty="0"/>
          </a:p>
        </p:txBody>
      </p:sp>
      <p:sp>
        <p:nvSpPr>
          <p:cNvPr id="168" name="Text 166"/>
          <p:cNvSpPr txBox="1"/>
          <p:nvPr/>
        </p:nvSpPr>
        <p:spPr>
          <a:xfrm>
            <a:off x="8242094" y="6203211"/>
            <a:ext cx="3690782" cy="228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89.8 % isolated signs, unseen signer (top-3 97.1 %) · ≈ 90 % continuous sentences (simulated) · 8 /</a:t>
            </a:r>
            <a:endParaRPr lang="en-US" sz="630" dirty="0"/>
          </a:p>
          <a:p>
            <a:pPr algn="l" indent="0" marL="0">
              <a:lnSpc>
                <a:spcPts val="806"/>
              </a:lnSpc>
              <a:buNone/>
            </a:pPr>
            <a:r>
              <a:rPr lang="en-US" sz="630" dirty="0">
                <a:solidFill>
                  <a:srgbClr val="1B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live, unguided</a:t>
            </a:r>
            <a:endParaRPr lang="en-US" sz="6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SignBridge - workflow</dc:title>
  <dc:subject>PptxGenJS Presentation</dc:subject>
  <dc:creator>SignBridge team</dc:creator>
  <cp:lastModifiedBy>SignBridge team</cp:lastModifiedBy>
  <cp:revision>1</cp:revision>
  <dcterms:created xsi:type="dcterms:W3CDTF">2026-10-11T16:23:10Z</dcterms:created>
  <dcterms:modified xsi:type="dcterms:W3CDTF">2026-10-11T16:23:10Z</dcterms:modified>
</cp:coreProperties>
</file>